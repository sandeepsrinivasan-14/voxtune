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GB</c:v>
                </c:pt>
              </c:strCache>
            </c:strRef>
          </c:tx>
          <c:spPr>
            <a:solidFill>
              <a:srgbClr val="2FD1B5"/>
            </a:solidFill>
            <a:effectLst/>
          </c:spPr>
          <c:invertIfNegative val="0"/>
          <c:dLbls>
            <c:numFmt formatCode="0.0" sourceLinked="0"/>
            <c:txPr>
              <a:bodyPr/>
              <a:lstStyle/>
              <a:p>
                <a:pPr>
                  <a:defRPr b="0" i="0" strike="noStrike" sz="12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2FD1B5"/>
              </a:solidFill>
              <a:effectLst/>
            </c:spPr>
          </c:dPt>
          <c:dPt>
            <c:idx val="1"/>
            <c:invertIfNegative val="0"/>
            <c:bubble3D val="0"/>
            <c:spPr>
              <a:solidFill>
                <a:srgbClr val="2FD1B5"/>
              </a:solidFill>
              <a:effectLst/>
            </c:spPr>
          </c:dPt>
          <c:dPt>
            <c:idx val="2"/>
            <c:invertIfNegative val="0"/>
            <c:bubble3D val="0"/>
            <c:spPr>
              <a:solidFill>
                <a:srgbClr val="F5A524"/>
              </a:solidFill>
              <a:effectLst/>
            </c:spPr>
          </c:dPt>
          <c:dPt>
            <c:idx val="3"/>
            <c:invertIfNegative val="0"/>
            <c:bubble3D val="0"/>
            <c:spPr>
              <a:solidFill>
                <a:srgbClr val="F5A524"/>
              </a:solidFill>
              <a:effectLst/>
            </c:spPr>
          </c:dPt>
          <c:cat>
            <c:multiLvlStrRef>
              <c:f>Sheet1!$A$2:$A$5</c:f>
              <c:multiLvlStrCache>
                <c:ptCount val="4"/>
                <c:lvl>
                  <c:pt idx="0">
                    <c:v>Whisper-small QLoRA</c:v>
                  </c:pt>
                  <c:pt idx="1">
                    <c:v>Whisper-small LoRA</c:v>
                  </c:pt>
                  <c:pt idx="2">
                    <c:v>SpeechT5 speaker adapt.</c:v>
                  </c:pt>
                  <c:pt idx="3">
                    <c:v>SpeechT5 full FT</c:v>
                  </c:pt>
                </c:lvl>
              </c:multiLvlStrCache>
            </c:multiLvlStrRef>
          </c:cat>
          <c:val>
            <c:numRef>
              <c:f>Sheet1!$B$2:$B$5</c:f>
              <c:numCache>
                <c:formatCode>General</c:formatCode>
                <c:ptCount val="4"/>
                <c:pt idx="0">
                  <c:v>1.5</c:v>
                </c:pt>
                <c:pt idx="1">
                  <c:v>1.9</c:v>
                </c:pt>
                <c:pt idx="2">
                  <c:v>2.5</c:v>
                </c:pt>
                <c:pt idx="3">
                  <c:v>2.7</c:v>
                </c:pt>
              </c:numCache>
            </c:numRef>
          </c:val>
        </c:ser>
        <c:dLbls>
          <c:numFmt formatCode="0.0" sourceLinked="0"/>
          <c:txPr>
            <a:bodyPr/>
            <a:lstStyle/>
            <a:p>
              <a:pPr>
                <a:defRPr b="0" i="0" strike="noStrike" sz="12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D5D2EA"/>
                </a:solidFill>
                <a:latin typeface="Calibri"/>
              </a:defRPr>
            </a:pPr>
            <a:endParaRPr lang="en-US"/>
          </a:p>
        </c:txPr>
        <c:crossAx val="2094734552"/>
        <c:crosses val="autoZero"/>
        <c:auto val="1"/>
        <c:lblAlgn val="ctr"/>
        <c:noMultiLvlLbl val="1"/>
      </c:catAx>
      <c:valAx>
        <c:axId val="2094734552"/>
        <c:scaling>
          <c:orientation val="minMax"/>
          <c:max val="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VoxTune is a web platform that fine-tunes existing open-source STT and TTS models on the user's own data. It is not a new model. Today's talk: the process and pipeline, the fine-tuning toolbox, and which STT/TTS models cover English, Tamil and Hindi. Rule of the platform: no simulated training - if something cannot run, the UI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stages, all driven from one web UI. Data is analysed and cleaned before any training. The strategy engine recommends a method and settings and explains why. Training runs in a separate worker process; on out-of-memory it halves the batch and keeps the effective batch size. Every run is evaluated against the base model on held-out data, then registered as a versioned model and exported.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data is the biggest cause of bad fine-tunes, so analysis comes first. Twelve-ish quality flags feed a quality score. Preparation drops flagged clips, resamples to 16 kHz mono, and does a leakage-safe split: identical sentences never appear in both train and validation. Augmentation is applied for STT. Be honest that noise/silence/mismatch checks are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catalogue is defined once in the backend and served to the UI, so the slide matches the product. Rule of thumb: LoRA is the default for small data; QLoRA when memory is the constraint; IA3 when data is tiny; domain adaptation when the goal is vocabulary; full fine-tuning only with tens of hours and enough VRAM; speaker adaptation for TTS voice cloning.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First, the strategy engine turns dataset size, goal and free VRAM into a method plus settings, each with a stated reason. Second, Auto-tune measures instead of guessing: it samples candidate settings (rank, adapted layers, DoRA/rsLoRA/LoRA+, LR multiplier, SpecAugment), trains each briefly, keeps the best third with three times the budget, and hands the winner to the full run. The untuned baseline always competes, so the result can only match or beat defaults on the validation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coverage taken from the upstream model cards. STT: Whisper supports all three and is what VoxTune trains today; IndicConformer is Indic-only (no English); MMS and SeamlessM4T cover all three but are non-commercial licences. TTS: SpeechT5 is English only; XTTS v2 has Hindi but no Tamil and a non-commercial licence, and is registered without a trainer; Indic Parler-TTS covers English, Hindi and Tamil under Apache-2.0 and is the natural next TTS base. Whisper's Tamil and Hindi data is smaller than its English data, so fine-tuning helps most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is done against the base model, per metric, with per-column leaders only and never a fake global best. The memory chart is from real completed runs on a 4 GB RTX 3050 laptop: Whisper-small QLoRA 1.5 GB, LoRA 1.9 GB, SpeechT5 speaker adaptation 2.5 GB and full fine-tuning 2.7 GB. Caveat: datasets were small synthetic-speech sets, so this shows the pipeline works, not real-world accuracy. Next: real Tamil and Hindi data and a multilingual TTS 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12B"/>
        </a:solidFill>
      </p:bgPr>
    </p:bg>
    <p:spTree>
      <p:nvGrpSpPr>
        <p:cNvPr id="1" name=""/>
        <p:cNvGrpSpPr/>
        <p:nvPr/>
      </p:nvGrpSpPr>
      <p:grpSpPr>
        <a:xfrm>
          <a:off x="0" y="0"/>
          <a:ext cx="0" cy="0"/>
          <a:chOff x="0" y="0"/>
          <a:chExt cx="0" cy="0"/>
        </a:xfrm>
      </p:grpSpPr>
      <p:sp>
        <p:nvSpPr>
          <p:cNvPr id="2" name="Shape 0"/>
          <p:cNvSpPr/>
          <p:nvPr/>
        </p:nvSpPr>
        <p:spPr>
          <a:xfrm>
            <a:off x="5074920" y="1988820"/>
            <a:ext cx="146304" cy="777240"/>
          </a:xfrm>
          <a:prstGeom prst="roundRect">
            <a:avLst>
              <a:gd name="adj" fmla="val 50000"/>
            </a:avLst>
          </a:prstGeom>
          <a:solidFill>
            <a:srgbClr val="2FD1B5"/>
          </a:solidFill>
          <a:ln/>
        </p:spPr>
      </p:sp>
      <p:sp>
        <p:nvSpPr>
          <p:cNvPr id="3" name="Shape 1"/>
          <p:cNvSpPr/>
          <p:nvPr/>
        </p:nvSpPr>
        <p:spPr>
          <a:xfrm>
            <a:off x="5312664" y="1600200"/>
            <a:ext cx="146304" cy="1554480"/>
          </a:xfrm>
          <a:prstGeom prst="roundRect">
            <a:avLst>
              <a:gd name="adj" fmla="val 50000"/>
            </a:avLst>
          </a:prstGeom>
          <a:solidFill>
            <a:srgbClr val="F5A524"/>
          </a:solidFill>
          <a:ln/>
        </p:spPr>
      </p:sp>
      <p:sp>
        <p:nvSpPr>
          <p:cNvPr id="4" name="Shape 2"/>
          <p:cNvSpPr/>
          <p:nvPr/>
        </p:nvSpPr>
        <p:spPr>
          <a:xfrm>
            <a:off x="5550408" y="1133856"/>
            <a:ext cx="146304" cy="2487168"/>
          </a:xfrm>
          <a:prstGeom prst="roundRect">
            <a:avLst>
              <a:gd name="adj" fmla="val 50000"/>
            </a:avLst>
          </a:prstGeom>
          <a:solidFill>
            <a:srgbClr val="8B7CF6"/>
          </a:solidFill>
          <a:ln/>
        </p:spPr>
      </p:sp>
      <p:sp>
        <p:nvSpPr>
          <p:cNvPr id="5" name="Shape 3"/>
          <p:cNvSpPr/>
          <p:nvPr/>
        </p:nvSpPr>
        <p:spPr>
          <a:xfrm>
            <a:off x="5788152" y="1677924"/>
            <a:ext cx="146304" cy="1399032"/>
          </a:xfrm>
          <a:prstGeom prst="roundRect">
            <a:avLst>
              <a:gd name="adj" fmla="val 50000"/>
            </a:avLst>
          </a:prstGeom>
          <a:solidFill>
            <a:srgbClr val="2FD1B5"/>
          </a:solidFill>
          <a:ln/>
        </p:spPr>
      </p:sp>
      <p:sp>
        <p:nvSpPr>
          <p:cNvPr id="6" name="Shape 4"/>
          <p:cNvSpPr/>
          <p:nvPr/>
        </p:nvSpPr>
        <p:spPr>
          <a:xfrm>
            <a:off x="6025896" y="822960"/>
            <a:ext cx="146304" cy="3108960"/>
          </a:xfrm>
          <a:prstGeom prst="roundRect">
            <a:avLst>
              <a:gd name="adj" fmla="val 50000"/>
            </a:avLst>
          </a:prstGeom>
          <a:solidFill>
            <a:srgbClr val="F5A524"/>
          </a:solidFill>
          <a:ln/>
        </p:spPr>
      </p:sp>
      <p:sp>
        <p:nvSpPr>
          <p:cNvPr id="7" name="Shape 5"/>
          <p:cNvSpPr/>
          <p:nvPr/>
        </p:nvSpPr>
        <p:spPr>
          <a:xfrm>
            <a:off x="6263640" y="1367028"/>
            <a:ext cx="146304" cy="2020824"/>
          </a:xfrm>
          <a:prstGeom prst="roundRect">
            <a:avLst>
              <a:gd name="adj" fmla="val 50000"/>
            </a:avLst>
          </a:prstGeom>
          <a:solidFill>
            <a:srgbClr val="8B7CF6"/>
          </a:solidFill>
          <a:ln/>
        </p:spPr>
      </p:sp>
      <p:sp>
        <p:nvSpPr>
          <p:cNvPr id="8" name="Shape 6"/>
          <p:cNvSpPr/>
          <p:nvPr/>
        </p:nvSpPr>
        <p:spPr>
          <a:xfrm>
            <a:off x="6501384" y="1833372"/>
            <a:ext cx="146304" cy="1088136"/>
          </a:xfrm>
          <a:prstGeom prst="roundRect">
            <a:avLst>
              <a:gd name="adj" fmla="val 50000"/>
            </a:avLst>
          </a:prstGeom>
          <a:solidFill>
            <a:srgbClr val="2FD1B5"/>
          </a:solidFill>
          <a:ln/>
        </p:spPr>
      </p:sp>
      <p:sp>
        <p:nvSpPr>
          <p:cNvPr id="9" name="Shape 7"/>
          <p:cNvSpPr/>
          <p:nvPr/>
        </p:nvSpPr>
        <p:spPr>
          <a:xfrm>
            <a:off x="6739128" y="978408"/>
            <a:ext cx="146304" cy="2798064"/>
          </a:xfrm>
          <a:prstGeom prst="roundRect">
            <a:avLst>
              <a:gd name="adj" fmla="val 50000"/>
            </a:avLst>
          </a:prstGeom>
          <a:solidFill>
            <a:srgbClr val="F5A524"/>
          </a:solidFill>
          <a:ln/>
        </p:spPr>
      </p:sp>
      <p:sp>
        <p:nvSpPr>
          <p:cNvPr id="10" name="Shape 8"/>
          <p:cNvSpPr/>
          <p:nvPr/>
        </p:nvSpPr>
        <p:spPr>
          <a:xfrm>
            <a:off x="6976872" y="1522476"/>
            <a:ext cx="146304" cy="1709928"/>
          </a:xfrm>
          <a:prstGeom prst="roundRect">
            <a:avLst>
              <a:gd name="adj" fmla="val 50000"/>
            </a:avLst>
          </a:prstGeom>
          <a:solidFill>
            <a:srgbClr val="8B7CF6"/>
          </a:solidFill>
          <a:ln/>
        </p:spPr>
      </p:sp>
      <p:sp>
        <p:nvSpPr>
          <p:cNvPr id="11" name="Shape 9"/>
          <p:cNvSpPr/>
          <p:nvPr/>
        </p:nvSpPr>
        <p:spPr>
          <a:xfrm>
            <a:off x="7214616" y="1911096"/>
            <a:ext cx="146304" cy="932688"/>
          </a:xfrm>
          <a:prstGeom prst="roundRect">
            <a:avLst>
              <a:gd name="adj" fmla="val 50000"/>
            </a:avLst>
          </a:prstGeom>
          <a:solidFill>
            <a:srgbClr val="2FD1B5"/>
          </a:solidFill>
          <a:ln/>
        </p:spPr>
      </p:sp>
      <p:sp>
        <p:nvSpPr>
          <p:cNvPr id="12" name="Shape 10"/>
          <p:cNvSpPr/>
          <p:nvPr/>
        </p:nvSpPr>
        <p:spPr>
          <a:xfrm>
            <a:off x="7452360" y="1211580"/>
            <a:ext cx="146304" cy="2331720"/>
          </a:xfrm>
          <a:prstGeom prst="roundRect">
            <a:avLst>
              <a:gd name="adj" fmla="val 50000"/>
            </a:avLst>
          </a:prstGeom>
          <a:solidFill>
            <a:srgbClr val="F5A524"/>
          </a:solidFill>
          <a:ln/>
        </p:spPr>
      </p:sp>
      <p:sp>
        <p:nvSpPr>
          <p:cNvPr id="13" name="Shape 11"/>
          <p:cNvSpPr/>
          <p:nvPr/>
        </p:nvSpPr>
        <p:spPr>
          <a:xfrm>
            <a:off x="7690104" y="1600200"/>
            <a:ext cx="146304" cy="1554480"/>
          </a:xfrm>
          <a:prstGeom prst="roundRect">
            <a:avLst>
              <a:gd name="adj" fmla="val 50000"/>
            </a:avLst>
          </a:prstGeom>
          <a:solidFill>
            <a:srgbClr val="8B7CF6"/>
          </a:solidFill>
          <a:ln/>
        </p:spPr>
      </p:sp>
      <p:sp>
        <p:nvSpPr>
          <p:cNvPr id="14" name="Shape 12"/>
          <p:cNvSpPr/>
          <p:nvPr/>
        </p:nvSpPr>
        <p:spPr>
          <a:xfrm>
            <a:off x="7927848" y="900684"/>
            <a:ext cx="146304" cy="2953512"/>
          </a:xfrm>
          <a:prstGeom prst="roundRect">
            <a:avLst>
              <a:gd name="adj" fmla="val 50000"/>
            </a:avLst>
          </a:prstGeom>
          <a:solidFill>
            <a:srgbClr val="2FD1B5"/>
          </a:solidFill>
          <a:ln/>
        </p:spPr>
      </p:sp>
      <p:sp>
        <p:nvSpPr>
          <p:cNvPr id="15" name="Shape 13"/>
          <p:cNvSpPr/>
          <p:nvPr/>
        </p:nvSpPr>
        <p:spPr>
          <a:xfrm>
            <a:off x="8165592" y="1755648"/>
            <a:ext cx="146304" cy="1243584"/>
          </a:xfrm>
          <a:prstGeom prst="roundRect">
            <a:avLst>
              <a:gd name="adj" fmla="val 50000"/>
            </a:avLst>
          </a:prstGeom>
          <a:solidFill>
            <a:srgbClr val="F5A524"/>
          </a:solidFill>
          <a:ln/>
        </p:spPr>
      </p:sp>
      <p:sp>
        <p:nvSpPr>
          <p:cNvPr id="16" name="Shape 14"/>
          <p:cNvSpPr/>
          <p:nvPr/>
        </p:nvSpPr>
        <p:spPr>
          <a:xfrm>
            <a:off x="8403336" y="2066544"/>
            <a:ext cx="146304" cy="621792"/>
          </a:xfrm>
          <a:prstGeom prst="roundRect">
            <a:avLst>
              <a:gd name="adj" fmla="val 50000"/>
            </a:avLst>
          </a:prstGeom>
          <a:solidFill>
            <a:srgbClr val="8B7CF6"/>
          </a:solidFill>
          <a:ln/>
        </p:spPr>
      </p:sp>
      <p:sp>
        <p:nvSpPr>
          <p:cNvPr id="17" name="Text 15"/>
          <p:cNvSpPr txBox="1"/>
          <p:nvPr/>
        </p:nvSpPr>
        <p:spPr>
          <a:xfrm>
            <a:off x="548640" y="822960"/>
            <a:ext cx="4572000" cy="8229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VoxTune</a:t>
            </a:r>
            <a:endParaRPr lang="en-US" sz="5400" dirty="0"/>
          </a:p>
        </p:txBody>
      </p:sp>
      <p:sp>
        <p:nvSpPr>
          <p:cNvPr id="18" name="Text 16"/>
          <p:cNvSpPr txBox="1"/>
          <p:nvPr/>
        </p:nvSpPr>
        <p:spPr>
          <a:xfrm>
            <a:off x="548640" y="1691640"/>
            <a:ext cx="4572000" cy="457200"/>
          </a:xfrm>
          <a:prstGeom prst="rect">
            <a:avLst/>
          </a:prstGeom>
          <a:noFill/>
          <a:ln/>
        </p:spPr>
        <p:txBody>
          <a:bodyPr wrap="square" lIns="0" tIns="0" rIns="0" bIns="0" rtlCol="0" anchor="ctr"/>
          <a:lstStyle/>
          <a:p>
            <a:pPr indent="0" marL="0">
              <a:buNone/>
            </a:pPr>
            <a:r>
              <a:rPr lang="en-US" sz="2200" b="1" dirty="0">
                <a:solidFill>
                  <a:srgbClr val="F5A524"/>
                </a:solidFill>
                <a:latin typeface="Calibri" pitchFamily="34" charset="0"/>
                <a:ea typeface="Calibri" pitchFamily="34" charset="-122"/>
                <a:cs typeface="Calibri" pitchFamily="34" charset="-120"/>
              </a:rPr>
              <a:t>Fine-tuning studio for speech models</a:t>
            </a:r>
            <a:endParaRPr lang="en-US" sz="2200" dirty="0"/>
          </a:p>
        </p:txBody>
      </p:sp>
      <p:sp>
        <p:nvSpPr>
          <p:cNvPr id="19" name="Text 17"/>
          <p:cNvSpPr txBox="1"/>
          <p:nvPr/>
        </p:nvSpPr>
        <p:spPr>
          <a:xfrm>
            <a:off x="548640" y="2286000"/>
            <a:ext cx="4297680" cy="822960"/>
          </a:xfrm>
          <a:prstGeom prst="rect">
            <a:avLst/>
          </a:prstGeom>
          <a:noFill/>
          <a:ln/>
        </p:spPr>
        <p:txBody>
          <a:bodyPr wrap="square" lIns="0" tIns="0" rIns="0" bIns="0" rtlCol="0" anchor="t"/>
          <a:lstStyle/>
          <a:p>
            <a:pPr indent="0" marL="0">
              <a:buNone/>
            </a:pPr>
            <a:r>
              <a:rPr lang="en-US" sz="1500" dirty="0">
                <a:solidFill>
                  <a:srgbClr val="D5D2EA"/>
                </a:solidFill>
                <a:latin typeface="Calibri" pitchFamily="34" charset="0"/>
                <a:ea typeface="Calibri" pitchFamily="34" charset="-122"/>
                <a:cs typeface="Calibri" pitchFamily="34" charset="-120"/>
              </a:rPr>
              <a:t>Adapt open-source STT and TTS models to your own audio: upload data, get a recommended strategy, train, and compare against the base model.</a:t>
            </a:r>
            <a:endParaRPr lang="en-US" sz="1500" dirty="0"/>
          </a:p>
        </p:txBody>
      </p:sp>
      <p:sp>
        <p:nvSpPr>
          <p:cNvPr id="20" name="Text 18"/>
          <p:cNvSpPr txBox="1"/>
          <p:nvPr/>
        </p:nvSpPr>
        <p:spPr>
          <a:xfrm>
            <a:off x="548640" y="3200400"/>
            <a:ext cx="4297680" cy="365760"/>
          </a:xfrm>
          <a:prstGeom prst="rect">
            <a:avLst/>
          </a:prstGeom>
          <a:noFill/>
          <a:ln/>
        </p:spPr>
        <p:txBody>
          <a:bodyPr wrap="square" lIns="0" tIns="0" rIns="0" bIns="0" rtlCol="0" anchor="ctr"/>
          <a:lstStyle/>
          <a:p>
            <a:pPr indent="0" marL="0">
              <a:buNone/>
            </a:pPr>
            <a:r>
              <a:rPr lang="en-US" sz="1800" b="1" dirty="0">
                <a:solidFill>
                  <a:srgbClr val="2FD1B5"/>
                </a:solidFill>
                <a:latin typeface="Calibri" pitchFamily="34" charset="0"/>
                <a:ea typeface="Calibri" pitchFamily="34" charset="-122"/>
                <a:cs typeface="Calibri" pitchFamily="34" charset="-120"/>
              </a:rPr>
              <a:t>English  ·  தமிழ்  ·  हिन्दी</a:t>
            </a:r>
            <a:endParaRPr lang="en-US" sz="1800" dirty="0"/>
          </a:p>
        </p:txBody>
      </p:sp>
      <p:sp>
        <p:nvSpPr>
          <p:cNvPr id="21" name="Shape 19"/>
          <p:cNvSpPr/>
          <p:nvPr/>
        </p:nvSpPr>
        <p:spPr>
          <a:xfrm>
            <a:off x="548640" y="3931920"/>
            <a:ext cx="2560320" cy="777240"/>
          </a:xfrm>
          <a:prstGeom prst="roundRect">
            <a:avLst>
              <a:gd name="adj" fmla="val 11765"/>
            </a:avLst>
          </a:prstGeom>
          <a:solidFill>
            <a:srgbClr val="2A2150"/>
          </a:solidFill>
          <a:ln/>
        </p:spPr>
      </p:sp>
      <p:sp>
        <p:nvSpPr>
          <p:cNvPr id="22" name="Text 20"/>
          <p:cNvSpPr txBox="1"/>
          <p:nvPr/>
        </p:nvSpPr>
        <p:spPr>
          <a:xfrm>
            <a:off x="731520" y="3977640"/>
            <a:ext cx="21945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23" name="Text 21"/>
          <p:cNvSpPr txBox="1"/>
          <p:nvPr/>
        </p:nvSpPr>
        <p:spPr>
          <a:xfrm>
            <a:off x="731520" y="4389120"/>
            <a:ext cx="2194560" cy="274320"/>
          </a:xfrm>
          <a:prstGeom prst="rect">
            <a:avLst/>
          </a:prstGeom>
          <a:noFill/>
          <a:ln/>
        </p:spPr>
        <p:txBody>
          <a:bodyPr wrap="square" lIns="0" tIns="0" rIns="0" bIns="0" rtlCol="0" anchor="ctr"/>
          <a:lstStyle/>
          <a:p>
            <a:pPr indent="0" marL="0">
              <a:buNone/>
            </a:pPr>
            <a:r>
              <a:rPr lang="en-US" sz="1200" dirty="0">
                <a:solidFill>
                  <a:srgbClr val="B9B5D6"/>
                </a:solidFill>
                <a:latin typeface="Calibri" pitchFamily="34" charset="0"/>
                <a:ea typeface="Calibri" pitchFamily="34" charset="-122"/>
                <a:cs typeface="Calibri" pitchFamily="34" charset="-120"/>
              </a:rPr>
              <a:t>fine-tuning methods</a:t>
            </a:r>
            <a:endParaRPr lang="en-US" sz="1200" dirty="0"/>
          </a:p>
        </p:txBody>
      </p:sp>
      <p:sp>
        <p:nvSpPr>
          <p:cNvPr id="24" name="Shape 22"/>
          <p:cNvSpPr/>
          <p:nvPr/>
        </p:nvSpPr>
        <p:spPr>
          <a:xfrm>
            <a:off x="3291840" y="3931920"/>
            <a:ext cx="2560320" cy="777240"/>
          </a:xfrm>
          <a:prstGeom prst="roundRect">
            <a:avLst>
              <a:gd name="adj" fmla="val 11765"/>
            </a:avLst>
          </a:prstGeom>
          <a:solidFill>
            <a:srgbClr val="2A2150"/>
          </a:solidFill>
          <a:ln/>
        </p:spPr>
      </p:sp>
      <p:sp>
        <p:nvSpPr>
          <p:cNvPr id="25" name="Text 23"/>
          <p:cNvSpPr txBox="1"/>
          <p:nvPr/>
        </p:nvSpPr>
        <p:spPr>
          <a:xfrm>
            <a:off x="3474720" y="3977640"/>
            <a:ext cx="21945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tiny → large-v3</a:t>
            </a:r>
            <a:endParaRPr lang="en-US" sz="2200" dirty="0"/>
          </a:p>
        </p:txBody>
      </p:sp>
      <p:sp>
        <p:nvSpPr>
          <p:cNvPr id="26" name="Text 24"/>
          <p:cNvSpPr txBox="1"/>
          <p:nvPr/>
        </p:nvSpPr>
        <p:spPr>
          <a:xfrm>
            <a:off x="3474720" y="4389120"/>
            <a:ext cx="2194560" cy="274320"/>
          </a:xfrm>
          <a:prstGeom prst="rect">
            <a:avLst/>
          </a:prstGeom>
          <a:noFill/>
          <a:ln/>
        </p:spPr>
        <p:txBody>
          <a:bodyPr wrap="square" lIns="0" tIns="0" rIns="0" bIns="0" rtlCol="0" anchor="ctr"/>
          <a:lstStyle/>
          <a:p>
            <a:pPr indent="0" marL="0">
              <a:buNone/>
            </a:pPr>
            <a:r>
              <a:rPr lang="en-US" sz="1200" dirty="0">
                <a:solidFill>
                  <a:srgbClr val="B9B5D6"/>
                </a:solidFill>
                <a:latin typeface="Calibri" pitchFamily="34" charset="0"/>
                <a:ea typeface="Calibri" pitchFamily="34" charset="-122"/>
                <a:cs typeface="Calibri" pitchFamily="34" charset="-120"/>
              </a:rPr>
              <a:t>Whisper sizes</a:t>
            </a:r>
            <a:endParaRPr lang="en-US" sz="1200" dirty="0"/>
          </a:p>
        </p:txBody>
      </p:sp>
      <p:sp>
        <p:nvSpPr>
          <p:cNvPr id="27" name="Shape 25"/>
          <p:cNvSpPr/>
          <p:nvPr/>
        </p:nvSpPr>
        <p:spPr>
          <a:xfrm>
            <a:off x="6035040" y="3931920"/>
            <a:ext cx="2560320" cy="777240"/>
          </a:xfrm>
          <a:prstGeom prst="roundRect">
            <a:avLst>
              <a:gd name="adj" fmla="val 11765"/>
            </a:avLst>
          </a:prstGeom>
          <a:solidFill>
            <a:srgbClr val="2A2150"/>
          </a:solidFill>
          <a:ln/>
        </p:spPr>
      </p:sp>
      <p:sp>
        <p:nvSpPr>
          <p:cNvPr id="28" name="Text 26"/>
          <p:cNvSpPr txBox="1"/>
          <p:nvPr/>
        </p:nvSpPr>
        <p:spPr>
          <a:xfrm>
            <a:off x="6217920" y="3977640"/>
            <a:ext cx="21945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 GB</a:t>
            </a:r>
            <a:endParaRPr lang="en-US" sz="2200" dirty="0"/>
          </a:p>
        </p:txBody>
      </p:sp>
      <p:sp>
        <p:nvSpPr>
          <p:cNvPr id="29" name="Text 27"/>
          <p:cNvSpPr txBox="1"/>
          <p:nvPr/>
        </p:nvSpPr>
        <p:spPr>
          <a:xfrm>
            <a:off x="6217920" y="4389120"/>
            <a:ext cx="2194560" cy="274320"/>
          </a:xfrm>
          <a:prstGeom prst="rect">
            <a:avLst/>
          </a:prstGeom>
          <a:noFill/>
          <a:ln/>
        </p:spPr>
        <p:txBody>
          <a:bodyPr wrap="square" lIns="0" tIns="0" rIns="0" bIns="0" rtlCol="0" anchor="ctr"/>
          <a:lstStyle/>
          <a:p>
            <a:pPr indent="0" marL="0">
              <a:buNone/>
            </a:pPr>
            <a:r>
              <a:rPr lang="en-US" sz="1200" dirty="0">
                <a:solidFill>
                  <a:srgbClr val="B9B5D6"/>
                </a:solidFill>
                <a:latin typeface="Calibri" pitchFamily="34" charset="0"/>
                <a:ea typeface="Calibri" pitchFamily="34" charset="-122"/>
                <a:cs typeface="Calibri" pitchFamily="34" charset="-120"/>
              </a:rPr>
              <a:t>GPU is enough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685800"/>
          </a:xfrm>
          <a:prstGeom prst="rect">
            <a:avLst/>
          </a:prstGeom>
          <a:noFill/>
          <a:ln/>
        </p:spPr>
        <p:txBody>
          <a:bodyPr wrap="square" lIns="0" tIns="0" rIns="0" bIns="0" rtlCol="0" anchor="ctr"/>
          <a:lstStyle/>
          <a:p>
            <a:pPr indent="0" marL="0">
              <a:buNone/>
            </a:pPr>
            <a:r>
              <a:rPr lang="en-US" sz="3000" b="1" dirty="0">
                <a:solidFill>
                  <a:srgbClr val="15112B"/>
                </a:solidFill>
                <a:latin typeface="Cambria" pitchFamily="34" charset="0"/>
                <a:ea typeface="Cambria" pitchFamily="34" charset="-122"/>
                <a:cs typeface="Cambria" pitchFamily="34" charset="-120"/>
              </a:rPr>
              <a:t>The pipeline: audio in, model out</a:t>
            </a:r>
            <a:endParaRPr lang="en-US" sz="3000" dirty="0"/>
          </a:p>
        </p:txBody>
      </p:sp>
      <p:sp>
        <p:nvSpPr>
          <p:cNvPr id="3" name="Shape 1"/>
          <p:cNvSpPr/>
          <p:nvPr/>
        </p:nvSpPr>
        <p:spPr>
          <a:xfrm>
            <a:off x="8001000" y="534924"/>
            <a:ext cx="64008" cy="164592"/>
          </a:xfrm>
          <a:prstGeom prst="roundRect">
            <a:avLst>
              <a:gd name="adj" fmla="val 50000"/>
            </a:avLst>
          </a:prstGeom>
          <a:solidFill>
            <a:srgbClr val="0E8A77"/>
          </a:solidFill>
          <a:ln/>
        </p:spPr>
      </p:sp>
      <p:sp>
        <p:nvSpPr>
          <p:cNvPr id="4" name="Shape 2"/>
          <p:cNvSpPr/>
          <p:nvPr/>
        </p:nvSpPr>
        <p:spPr>
          <a:xfrm>
            <a:off x="8110728" y="452628"/>
            <a:ext cx="64008" cy="329184"/>
          </a:xfrm>
          <a:prstGeom prst="roundRect">
            <a:avLst>
              <a:gd name="adj" fmla="val 50000"/>
            </a:avLst>
          </a:prstGeom>
          <a:solidFill>
            <a:srgbClr val="F5A524"/>
          </a:solidFill>
          <a:ln/>
        </p:spPr>
      </p:sp>
      <p:sp>
        <p:nvSpPr>
          <p:cNvPr id="5" name="Shape 3"/>
          <p:cNvSpPr/>
          <p:nvPr/>
        </p:nvSpPr>
        <p:spPr>
          <a:xfrm>
            <a:off x="8220456" y="411480"/>
            <a:ext cx="64008" cy="411480"/>
          </a:xfrm>
          <a:prstGeom prst="roundRect">
            <a:avLst>
              <a:gd name="adj" fmla="val 50000"/>
            </a:avLst>
          </a:prstGeom>
          <a:solidFill>
            <a:srgbClr val="0E8A77"/>
          </a:solidFill>
          <a:ln/>
        </p:spPr>
      </p:sp>
      <p:sp>
        <p:nvSpPr>
          <p:cNvPr id="6" name="Shape 4"/>
          <p:cNvSpPr/>
          <p:nvPr/>
        </p:nvSpPr>
        <p:spPr>
          <a:xfrm>
            <a:off x="8330184" y="493776"/>
            <a:ext cx="64008" cy="246888"/>
          </a:xfrm>
          <a:prstGeom prst="roundRect">
            <a:avLst>
              <a:gd name="adj" fmla="val 50000"/>
            </a:avLst>
          </a:prstGeom>
          <a:solidFill>
            <a:srgbClr val="F5A524"/>
          </a:solidFill>
          <a:ln/>
        </p:spPr>
      </p:sp>
      <p:sp>
        <p:nvSpPr>
          <p:cNvPr id="7" name="Shape 5"/>
          <p:cNvSpPr/>
          <p:nvPr/>
        </p:nvSpPr>
        <p:spPr>
          <a:xfrm>
            <a:off x="8439912" y="555498"/>
            <a:ext cx="64008" cy="123444"/>
          </a:xfrm>
          <a:prstGeom prst="roundRect">
            <a:avLst>
              <a:gd name="adj" fmla="val 50000"/>
            </a:avLst>
          </a:prstGeom>
          <a:solidFill>
            <a:srgbClr val="0E8A77"/>
          </a:solidFill>
          <a:ln/>
        </p:spPr>
      </p:sp>
      <p:sp>
        <p:nvSpPr>
          <p:cNvPr id="8" name="Text 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F5B78"/>
                </a:solidFill>
                <a:latin typeface="Calibri" pitchFamily="34" charset="0"/>
                <a:ea typeface="Calibri" pitchFamily="34" charset="-122"/>
                <a:cs typeface="Calibri" pitchFamily="34" charset="-120"/>
              </a:rPr>
              <a:t>2</a:t>
            </a:r>
            <a:endParaRPr lang="en-US" sz="1000" dirty="0"/>
          </a:p>
        </p:txBody>
      </p:sp>
      <p:sp>
        <p:nvSpPr>
          <p:cNvPr id="9" name="Shape 7"/>
          <p:cNvSpPr/>
          <p:nvPr/>
        </p:nvSpPr>
        <p:spPr>
          <a:xfrm>
            <a:off x="1051560" y="1691640"/>
            <a:ext cx="7132320" cy="0"/>
          </a:xfrm>
          <a:prstGeom prst="line">
            <a:avLst/>
          </a:prstGeom>
          <a:noFill/>
          <a:ln w="25400">
            <a:solidFill>
              <a:srgbClr val="DAD7EA"/>
            </a:solidFill>
            <a:prstDash val="solid"/>
          </a:ln>
        </p:spPr>
      </p:sp>
      <p:sp>
        <p:nvSpPr>
          <p:cNvPr id="10" name="Shape 8"/>
          <p:cNvSpPr/>
          <p:nvPr/>
        </p:nvSpPr>
        <p:spPr>
          <a:xfrm>
            <a:off x="777240" y="1417320"/>
            <a:ext cx="548640" cy="548640"/>
          </a:xfrm>
          <a:prstGeom prst="ellipse">
            <a:avLst/>
          </a:prstGeom>
          <a:solidFill>
            <a:srgbClr val="15112B"/>
          </a:solidFill>
          <a:ln w="38100">
            <a:solidFill>
              <a:srgbClr val="F6F5FB"/>
            </a:solidFill>
            <a:prstDash val="solid"/>
          </a:ln>
        </p:spPr>
      </p:sp>
      <p:pic>
        <p:nvPicPr>
          <p:cNvPr id="11" name="Image 0" descr="preencoded.png">    </p:cNvPr>
          <p:cNvPicPr>
            <a:picLocks noChangeAspect="1"/>
          </p:cNvPicPr>
          <p:nvPr/>
        </p:nvPicPr>
        <p:blipFill>
          <a:blip r:embed="rId1"/>
          <a:stretch>
            <a:fillRect/>
          </a:stretch>
        </p:blipFill>
        <p:spPr>
          <a:xfrm>
            <a:off x="914400" y="1554480"/>
            <a:ext cx="274320" cy="274320"/>
          </a:xfrm>
          <a:prstGeom prst="rect">
            <a:avLst/>
          </a:prstGeom>
        </p:spPr>
      </p:pic>
      <p:sp>
        <p:nvSpPr>
          <p:cNvPr id="12" name="Text 9"/>
          <p:cNvSpPr txBox="1"/>
          <p:nvPr/>
        </p:nvSpPr>
        <p:spPr>
          <a:xfrm>
            <a:off x="45720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1  Upload</a:t>
            </a:r>
            <a:endParaRPr lang="en-US" sz="1400" dirty="0"/>
          </a:p>
        </p:txBody>
      </p:sp>
      <p:sp>
        <p:nvSpPr>
          <p:cNvPr id="13" name="Text 10"/>
          <p:cNvSpPr txBox="1"/>
          <p:nvPr/>
        </p:nvSpPr>
        <p:spPr>
          <a:xfrm>
            <a:off x="47548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Zip + metadata file, or audio + .txt</a:t>
            </a:r>
            <a:endParaRPr lang="en-US" sz="1150" dirty="0"/>
          </a:p>
        </p:txBody>
      </p:sp>
      <p:sp>
        <p:nvSpPr>
          <p:cNvPr id="14" name="Shape 11"/>
          <p:cNvSpPr/>
          <p:nvPr/>
        </p:nvSpPr>
        <p:spPr>
          <a:xfrm>
            <a:off x="1950720" y="1417320"/>
            <a:ext cx="548640" cy="548640"/>
          </a:xfrm>
          <a:prstGeom prst="ellipse">
            <a:avLst/>
          </a:prstGeom>
          <a:solidFill>
            <a:srgbClr val="15112B"/>
          </a:solidFill>
          <a:ln w="38100">
            <a:solidFill>
              <a:srgbClr val="F6F5FB"/>
            </a:solidFill>
            <a:prstDash val="solid"/>
          </a:ln>
        </p:spPr>
      </p:sp>
      <p:pic>
        <p:nvPicPr>
          <p:cNvPr id="15" name="Image 1" descr="preencoded.png">    </p:cNvPr>
          <p:cNvPicPr>
            <a:picLocks noChangeAspect="1"/>
          </p:cNvPicPr>
          <p:nvPr/>
        </p:nvPicPr>
        <p:blipFill>
          <a:blip r:embed="rId2"/>
          <a:stretch>
            <a:fillRect/>
          </a:stretch>
        </p:blipFill>
        <p:spPr>
          <a:xfrm>
            <a:off x="2087880" y="1554480"/>
            <a:ext cx="274320" cy="274320"/>
          </a:xfrm>
          <a:prstGeom prst="rect">
            <a:avLst/>
          </a:prstGeom>
        </p:spPr>
      </p:pic>
      <p:sp>
        <p:nvSpPr>
          <p:cNvPr id="16" name="Text 12"/>
          <p:cNvSpPr txBox="1"/>
          <p:nvPr/>
        </p:nvSpPr>
        <p:spPr>
          <a:xfrm>
            <a:off x="163068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2  Analyze</a:t>
            </a:r>
            <a:endParaRPr lang="en-US" sz="1400" dirty="0"/>
          </a:p>
        </p:txBody>
      </p:sp>
      <p:sp>
        <p:nvSpPr>
          <p:cNvPr id="17" name="Text 13"/>
          <p:cNvSpPr txBox="1"/>
          <p:nvPr/>
        </p:nvSpPr>
        <p:spPr>
          <a:xfrm>
            <a:off x="164896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Duration, sample rate, script, quality flags and score</a:t>
            </a:r>
            <a:endParaRPr lang="en-US" sz="1150" dirty="0"/>
          </a:p>
        </p:txBody>
      </p:sp>
      <p:sp>
        <p:nvSpPr>
          <p:cNvPr id="18" name="Shape 14"/>
          <p:cNvSpPr/>
          <p:nvPr/>
        </p:nvSpPr>
        <p:spPr>
          <a:xfrm>
            <a:off x="3124200" y="1417320"/>
            <a:ext cx="548640" cy="548640"/>
          </a:xfrm>
          <a:prstGeom prst="ellipse">
            <a:avLst/>
          </a:prstGeom>
          <a:solidFill>
            <a:srgbClr val="15112B"/>
          </a:solidFill>
          <a:ln w="38100">
            <a:solidFill>
              <a:srgbClr val="F6F5FB"/>
            </a:solidFill>
            <a:prstDash val="solid"/>
          </a:ln>
        </p:spPr>
      </p:sp>
      <p:pic>
        <p:nvPicPr>
          <p:cNvPr id="19" name="Image 2" descr="preencoded.png">    </p:cNvPr>
          <p:cNvPicPr>
            <a:picLocks noChangeAspect="1"/>
          </p:cNvPicPr>
          <p:nvPr/>
        </p:nvPicPr>
        <p:blipFill>
          <a:blip r:embed="rId3"/>
          <a:stretch>
            <a:fillRect/>
          </a:stretch>
        </p:blipFill>
        <p:spPr>
          <a:xfrm>
            <a:off x="3261360" y="1554480"/>
            <a:ext cx="274320" cy="274320"/>
          </a:xfrm>
          <a:prstGeom prst="rect">
            <a:avLst/>
          </a:prstGeom>
        </p:spPr>
      </p:pic>
      <p:sp>
        <p:nvSpPr>
          <p:cNvPr id="20" name="Text 15"/>
          <p:cNvSpPr txBox="1"/>
          <p:nvPr/>
        </p:nvSpPr>
        <p:spPr>
          <a:xfrm>
            <a:off x="280416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3  Prepare</a:t>
            </a:r>
            <a:endParaRPr lang="en-US" sz="1400" dirty="0"/>
          </a:p>
        </p:txBody>
      </p:sp>
      <p:sp>
        <p:nvSpPr>
          <p:cNvPr id="21" name="Text 16"/>
          <p:cNvSpPr txBox="1"/>
          <p:nvPr/>
        </p:nvSpPr>
        <p:spPr>
          <a:xfrm>
            <a:off x="282244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Drop bad clips, 16 kHz mono, leakage-safe split</a:t>
            </a:r>
            <a:endParaRPr lang="en-US" sz="1150" dirty="0"/>
          </a:p>
        </p:txBody>
      </p:sp>
      <p:sp>
        <p:nvSpPr>
          <p:cNvPr id="22" name="Shape 17"/>
          <p:cNvSpPr/>
          <p:nvPr/>
        </p:nvSpPr>
        <p:spPr>
          <a:xfrm>
            <a:off x="4297680" y="1417320"/>
            <a:ext cx="548640" cy="548640"/>
          </a:xfrm>
          <a:prstGeom prst="ellipse">
            <a:avLst/>
          </a:prstGeom>
          <a:solidFill>
            <a:srgbClr val="15112B"/>
          </a:solidFill>
          <a:ln w="38100">
            <a:solidFill>
              <a:srgbClr val="F6F5FB"/>
            </a:solidFill>
            <a:prstDash val="solid"/>
          </a:ln>
        </p:spPr>
      </p:sp>
      <p:pic>
        <p:nvPicPr>
          <p:cNvPr id="23" name="Image 3" descr="preencoded.png">    </p:cNvPr>
          <p:cNvPicPr>
            <a:picLocks noChangeAspect="1"/>
          </p:cNvPicPr>
          <p:nvPr/>
        </p:nvPicPr>
        <p:blipFill>
          <a:blip r:embed="rId4"/>
          <a:stretch>
            <a:fillRect/>
          </a:stretch>
        </p:blipFill>
        <p:spPr>
          <a:xfrm>
            <a:off x="4434840" y="1554480"/>
            <a:ext cx="274320" cy="274320"/>
          </a:xfrm>
          <a:prstGeom prst="rect">
            <a:avLst/>
          </a:prstGeom>
        </p:spPr>
      </p:pic>
      <p:sp>
        <p:nvSpPr>
          <p:cNvPr id="24" name="Text 18"/>
          <p:cNvSpPr txBox="1"/>
          <p:nvPr/>
        </p:nvSpPr>
        <p:spPr>
          <a:xfrm>
            <a:off x="397764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4  Strategy</a:t>
            </a:r>
            <a:endParaRPr lang="en-US" sz="1400" dirty="0"/>
          </a:p>
        </p:txBody>
      </p:sp>
      <p:sp>
        <p:nvSpPr>
          <p:cNvPr id="25" name="Text 19"/>
          <p:cNvSpPr txBox="1"/>
          <p:nvPr/>
        </p:nvSpPr>
        <p:spPr>
          <a:xfrm>
            <a:off x="399592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Rule-based method + config, with the reasons</a:t>
            </a:r>
            <a:endParaRPr lang="en-US" sz="1150" dirty="0"/>
          </a:p>
        </p:txBody>
      </p:sp>
      <p:sp>
        <p:nvSpPr>
          <p:cNvPr id="26" name="Shape 20"/>
          <p:cNvSpPr/>
          <p:nvPr/>
        </p:nvSpPr>
        <p:spPr>
          <a:xfrm>
            <a:off x="5471160" y="1417320"/>
            <a:ext cx="548640" cy="548640"/>
          </a:xfrm>
          <a:prstGeom prst="ellipse">
            <a:avLst/>
          </a:prstGeom>
          <a:solidFill>
            <a:srgbClr val="F5A524"/>
          </a:solidFill>
          <a:ln w="38100">
            <a:solidFill>
              <a:srgbClr val="F6F5FB"/>
            </a:solidFill>
            <a:prstDash val="solid"/>
          </a:ln>
        </p:spPr>
      </p:sp>
      <p:pic>
        <p:nvPicPr>
          <p:cNvPr id="27" name="Image 4" descr="preencoded.png">    </p:cNvPr>
          <p:cNvPicPr>
            <a:picLocks noChangeAspect="1"/>
          </p:cNvPicPr>
          <p:nvPr/>
        </p:nvPicPr>
        <p:blipFill>
          <a:blip r:embed="rId5"/>
          <a:stretch>
            <a:fillRect/>
          </a:stretch>
        </p:blipFill>
        <p:spPr>
          <a:xfrm>
            <a:off x="5608320" y="1554480"/>
            <a:ext cx="274320" cy="274320"/>
          </a:xfrm>
          <a:prstGeom prst="rect">
            <a:avLst/>
          </a:prstGeom>
        </p:spPr>
      </p:pic>
      <p:sp>
        <p:nvSpPr>
          <p:cNvPr id="28" name="Text 21"/>
          <p:cNvSpPr txBox="1"/>
          <p:nvPr/>
        </p:nvSpPr>
        <p:spPr>
          <a:xfrm>
            <a:off x="515112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5  Train</a:t>
            </a:r>
            <a:endParaRPr lang="en-US" sz="1400" dirty="0"/>
          </a:p>
        </p:txBody>
      </p:sp>
      <p:sp>
        <p:nvSpPr>
          <p:cNvPr id="29" name="Text 22"/>
          <p:cNvSpPr txBox="1"/>
          <p:nvPr/>
        </p:nvSpPr>
        <p:spPr>
          <a:xfrm>
            <a:off x="516940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Isolated worker, auto-tune, OOM auto-retry</a:t>
            </a:r>
            <a:endParaRPr lang="en-US" sz="1150" dirty="0"/>
          </a:p>
        </p:txBody>
      </p:sp>
      <p:sp>
        <p:nvSpPr>
          <p:cNvPr id="30" name="Shape 23"/>
          <p:cNvSpPr/>
          <p:nvPr/>
        </p:nvSpPr>
        <p:spPr>
          <a:xfrm>
            <a:off x="6644640" y="1417320"/>
            <a:ext cx="548640" cy="548640"/>
          </a:xfrm>
          <a:prstGeom prst="ellipse">
            <a:avLst/>
          </a:prstGeom>
          <a:solidFill>
            <a:srgbClr val="15112B"/>
          </a:solidFill>
          <a:ln w="38100">
            <a:solidFill>
              <a:srgbClr val="F6F5FB"/>
            </a:solidFill>
            <a:prstDash val="solid"/>
          </a:ln>
        </p:spPr>
      </p:sp>
      <p:pic>
        <p:nvPicPr>
          <p:cNvPr id="31" name="Image 5" descr="preencoded.png">    </p:cNvPr>
          <p:cNvPicPr>
            <a:picLocks noChangeAspect="1"/>
          </p:cNvPicPr>
          <p:nvPr/>
        </p:nvPicPr>
        <p:blipFill>
          <a:blip r:embed="rId6"/>
          <a:stretch>
            <a:fillRect/>
          </a:stretch>
        </p:blipFill>
        <p:spPr>
          <a:xfrm>
            <a:off x="6781800" y="1554480"/>
            <a:ext cx="274320" cy="274320"/>
          </a:xfrm>
          <a:prstGeom prst="rect">
            <a:avLst/>
          </a:prstGeom>
        </p:spPr>
      </p:pic>
      <p:sp>
        <p:nvSpPr>
          <p:cNvPr id="32" name="Text 24"/>
          <p:cNvSpPr txBox="1"/>
          <p:nvPr/>
        </p:nvSpPr>
        <p:spPr>
          <a:xfrm>
            <a:off x="632460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6  Evaluate</a:t>
            </a:r>
            <a:endParaRPr lang="en-US" sz="1400" dirty="0"/>
          </a:p>
        </p:txBody>
      </p:sp>
      <p:sp>
        <p:nvSpPr>
          <p:cNvPr id="33" name="Text 25"/>
          <p:cNvSpPr txBox="1"/>
          <p:nvPr/>
        </p:nvSpPr>
        <p:spPr>
          <a:xfrm>
            <a:off x="634288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Tuned vs base: WER, CER, speaker similarity</a:t>
            </a:r>
            <a:endParaRPr lang="en-US" sz="1150" dirty="0"/>
          </a:p>
        </p:txBody>
      </p:sp>
      <p:sp>
        <p:nvSpPr>
          <p:cNvPr id="34" name="Shape 26"/>
          <p:cNvSpPr/>
          <p:nvPr/>
        </p:nvSpPr>
        <p:spPr>
          <a:xfrm>
            <a:off x="7818120" y="1417320"/>
            <a:ext cx="548640" cy="548640"/>
          </a:xfrm>
          <a:prstGeom prst="ellipse">
            <a:avLst/>
          </a:prstGeom>
          <a:solidFill>
            <a:srgbClr val="15112B"/>
          </a:solidFill>
          <a:ln w="38100">
            <a:solidFill>
              <a:srgbClr val="F6F5FB"/>
            </a:solidFill>
            <a:prstDash val="solid"/>
          </a:ln>
        </p:spPr>
      </p:sp>
      <p:pic>
        <p:nvPicPr>
          <p:cNvPr id="35" name="Image 6" descr="preencoded.png">    </p:cNvPr>
          <p:cNvPicPr>
            <a:picLocks noChangeAspect="1"/>
          </p:cNvPicPr>
          <p:nvPr/>
        </p:nvPicPr>
        <p:blipFill>
          <a:blip r:embed="rId7"/>
          <a:stretch>
            <a:fillRect/>
          </a:stretch>
        </p:blipFill>
        <p:spPr>
          <a:xfrm>
            <a:off x="7955280" y="1554480"/>
            <a:ext cx="274320" cy="274320"/>
          </a:xfrm>
          <a:prstGeom prst="rect">
            <a:avLst/>
          </a:prstGeom>
        </p:spPr>
      </p:pic>
      <p:sp>
        <p:nvSpPr>
          <p:cNvPr id="36" name="Text 27"/>
          <p:cNvSpPr txBox="1"/>
          <p:nvPr/>
        </p:nvSpPr>
        <p:spPr>
          <a:xfrm>
            <a:off x="7498080" y="2103120"/>
            <a:ext cx="1188720" cy="274320"/>
          </a:xfrm>
          <a:prstGeom prst="rect">
            <a:avLst/>
          </a:prstGeom>
          <a:noFill/>
          <a:ln/>
        </p:spPr>
        <p:txBody>
          <a:bodyPr wrap="square" lIns="0" tIns="0" rIns="0" bIns="0" rtlCol="0" anchor="ctr"/>
          <a:lstStyle/>
          <a:p>
            <a:pPr algn="ctr" indent="0" marL="0">
              <a:buNone/>
            </a:pPr>
            <a:r>
              <a:rPr lang="en-US" sz="1400" b="1" dirty="0">
                <a:solidFill>
                  <a:srgbClr val="15112B"/>
                </a:solidFill>
                <a:latin typeface="Calibri" pitchFamily="34" charset="0"/>
                <a:ea typeface="Calibri" pitchFamily="34" charset="-122"/>
                <a:cs typeface="Calibri" pitchFamily="34" charset="-120"/>
              </a:rPr>
              <a:t>7  Register</a:t>
            </a:r>
            <a:endParaRPr lang="en-US" sz="1400" dirty="0"/>
          </a:p>
        </p:txBody>
      </p:sp>
      <p:sp>
        <p:nvSpPr>
          <p:cNvPr id="37" name="Text 28"/>
          <p:cNvSpPr txBox="1"/>
          <p:nvPr/>
        </p:nvSpPr>
        <p:spPr>
          <a:xfrm>
            <a:off x="7516368" y="2404872"/>
            <a:ext cx="1152144" cy="868680"/>
          </a:xfrm>
          <a:prstGeom prst="rect">
            <a:avLst/>
          </a:prstGeom>
          <a:noFill/>
          <a:ln/>
        </p:spPr>
        <p:txBody>
          <a:bodyPr wrap="square" lIns="0" tIns="0" rIns="0" bIns="0" rtlCol="0" anchor="t"/>
          <a:lstStyle/>
          <a:p>
            <a:pPr algn="ctr" indent="0" marL="0">
              <a:buNone/>
            </a:pPr>
            <a:r>
              <a:rPr lang="en-US" sz="1150" dirty="0">
                <a:solidFill>
                  <a:srgbClr val="5F5B78"/>
                </a:solidFill>
                <a:latin typeface="Calibri" pitchFamily="34" charset="0"/>
                <a:ea typeface="Calibri" pitchFamily="34" charset="-122"/>
                <a:cs typeface="Calibri" pitchFamily="34" charset="-120"/>
              </a:rPr>
              <a:t>Versioned; export adapter or merged fp16</a:t>
            </a:r>
            <a:endParaRPr lang="en-US" sz="1150" dirty="0"/>
          </a:p>
        </p:txBody>
      </p:sp>
      <p:sp>
        <p:nvSpPr>
          <p:cNvPr id="38" name="Shape 29"/>
          <p:cNvSpPr/>
          <p:nvPr/>
        </p:nvSpPr>
        <p:spPr>
          <a:xfrm>
            <a:off x="457200" y="3611880"/>
            <a:ext cx="2560320" cy="1005840"/>
          </a:xfrm>
          <a:prstGeom prst="roundRect">
            <a:avLst>
              <a:gd name="adj" fmla="val 7273"/>
            </a:avLst>
          </a:prstGeom>
          <a:solidFill>
            <a:srgbClr val="FFFFFF"/>
          </a:solidFill>
          <a:ln w="12700">
            <a:solidFill>
              <a:srgbClr val="DAD7EA"/>
            </a:solidFill>
            <a:prstDash val="solid"/>
          </a:ln>
          <a:effectLst>
            <a:outerShdw sx="100000" sy="100000" kx="0" ky="0" algn="bl" rotWithShape="0" blurRad="76200" dist="25400" dir="5400000">
              <a:srgbClr val="000000">
                <a:alpha val="8000"/>
              </a:srgbClr>
            </a:outerShdw>
          </a:effectLst>
        </p:spPr>
      </p:sp>
      <p:sp>
        <p:nvSpPr>
          <p:cNvPr id="39" name="Text 30"/>
          <p:cNvSpPr txBox="1"/>
          <p:nvPr/>
        </p:nvSpPr>
        <p:spPr>
          <a:xfrm>
            <a:off x="640080" y="3703320"/>
            <a:ext cx="2194560" cy="274320"/>
          </a:xfrm>
          <a:prstGeom prst="rect">
            <a:avLst/>
          </a:prstGeom>
          <a:noFill/>
          <a:ln/>
        </p:spPr>
        <p:txBody>
          <a:bodyPr wrap="square" lIns="0" tIns="0" rIns="0" bIns="0" rtlCol="0" anchor="ctr"/>
          <a:lstStyle/>
          <a:p>
            <a:pPr indent="0" marL="0">
              <a:buNone/>
            </a:pPr>
            <a:r>
              <a:rPr lang="en-US" sz="1400" b="1" dirty="0">
                <a:solidFill>
                  <a:srgbClr val="0E8A77"/>
                </a:solidFill>
                <a:latin typeface="Calibri" pitchFamily="34" charset="0"/>
                <a:ea typeface="Calibri" pitchFamily="34" charset="-122"/>
                <a:cs typeface="Calibri" pitchFamily="34" charset="-120"/>
              </a:rPr>
              <a:t>Beginner mode</a:t>
            </a:r>
            <a:endParaRPr lang="en-US" sz="1400" dirty="0"/>
          </a:p>
        </p:txBody>
      </p:sp>
      <p:sp>
        <p:nvSpPr>
          <p:cNvPr id="40" name="Text 31"/>
          <p:cNvSpPr txBox="1"/>
          <p:nvPr/>
        </p:nvSpPr>
        <p:spPr>
          <a:xfrm>
            <a:off x="640080" y="3977640"/>
            <a:ext cx="2194560" cy="548640"/>
          </a:xfrm>
          <a:prstGeom prst="rect">
            <a:avLst/>
          </a:prstGeom>
          <a:noFill/>
          <a:ln/>
        </p:spPr>
        <p:txBody>
          <a:bodyPr wrap="square" lIns="0" tIns="0" rIns="0" bIns="0" rtlCol="0" anchor="t"/>
          <a:lstStyle/>
          <a:p>
            <a:pPr indent="0" marL="0">
              <a:buNone/>
            </a:pPr>
            <a:r>
              <a:rPr lang="en-US" sz="1200" dirty="0">
                <a:solidFill>
                  <a:srgbClr val="1B1633"/>
                </a:solidFill>
                <a:latin typeface="Calibri" pitchFamily="34" charset="0"/>
                <a:ea typeface="Calibri" pitchFamily="34" charset="-122"/>
                <a:cs typeface="Calibri" pitchFamily="34" charset="-120"/>
              </a:rPr>
              <a:t>Auto strategy: one click from data to a trained model.</a:t>
            </a:r>
            <a:endParaRPr lang="en-US" sz="1200" dirty="0"/>
          </a:p>
        </p:txBody>
      </p:sp>
      <p:sp>
        <p:nvSpPr>
          <p:cNvPr id="41" name="Shape 32"/>
          <p:cNvSpPr/>
          <p:nvPr/>
        </p:nvSpPr>
        <p:spPr>
          <a:xfrm>
            <a:off x="3291840" y="3611880"/>
            <a:ext cx="2560320" cy="1005840"/>
          </a:xfrm>
          <a:prstGeom prst="roundRect">
            <a:avLst>
              <a:gd name="adj" fmla="val 7273"/>
            </a:avLst>
          </a:prstGeom>
          <a:solidFill>
            <a:srgbClr val="FFFFFF"/>
          </a:solidFill>
          <a:ln w="12700">
            <a:solidFill>
              <a:srgbClr val="DAD7EA"/>
            </a:solidFill>
            <a:prstDash val="solid"/>
          </a:ln>
          <a:effectLst>
            <a:outerShdw sx="100000" sy="100000" kx="0" ky="0" algn="bl" rotWithShape="0" blurRad="76200" dist="25400" dir="5400000">
              <a:srgbClr val="000000">
                <a:alpha val="8000"/>
              </a:srgbClr>
            </a:outerShdw>
          </a:effectLst>
        </p:spPr>
      </p:sp>
      <p:sp>
        <p:nvSpPr>
          <p:cNvPr id="42" name="Text 33"/>
          <p:cNvSpPr txBox="1"/>
          <p:nvPr/>
        </p:nvSpPr>
        <p:spPr>
          <a:xfrm>
            <a:off x="3474720" y="3703320"/>
            <a:ext cx="2194560" cy="274320"/>
          </a:xfrm>
          <a:prstGeom prst="rect">
            <a:avLst/>
          </a:prstGeom>
          <a:noFill/>
          <a:ln/>
        </p:spPr>
        <p:txBody>
          <a:bodyPr wrap="square" lIns="0" tIns="0" rIns="0" bIns="0" rtlCol="0" anchor="ctr"/>
          <a:lstStyle/>
          <a:p>
            <a:pPr indent="0" marL="0">
              <a:buNone/>
            </a:pPr>
            <a:r>
              <a:rPr lang="en-US" sz="1400" b="1" dirty="0">
                <a:solidFill>
                  <a:srgbClr val="6B4FE0"/>
                </a:solidFill>
                <a:latin typeface="Calibri" pitchFamily="34" charset="0"/>
                <a:ea typeface="Calibri" pitchFamily="34" charset="-122"/>
                <a:cs typeface="Calibri" pitchFamily="34" charset="-120"/>
              </a:rPr>
              <a:t>Advanced mode</a:t>
            </a:r>
            <a:endParaRPr lang="en-US" sz="1400" dirty="0"/>
          </a:p>
        </p:txBody>
      </p:sp>
      <p:sp>
        <p:nvSpPr>
          <p:cNvPr id="43" name="Text 34"/>
          <p:cNvSpPr txBox="1"/>
          <p:nvPr/>
        </p:nvSpPr>
        <p:spPr>
          <a:xfrm>
            <a:off x="3474720" y="3977640"/>
            <a:ext cx="2194560" cy="548640"/>
          </a:xfrm>
          <a:prstGeom prst="rect">
            <a:avLst/>
          </a:prstGeom>
          <a:noFill/>
          <a:ln/>
        </p:spPr>
        <p:txBody>
          <a:bodyPr wrap="square" lIns="0" tIns="0" rIns="0" bIns="0" rtlCol="0" anchor="t"/>
          <a:lstStyle/>
          <a:p>
            <a:pPr indent="0" marL="0">
              <a:buNone/>
            </a:pPr>
            <a:r>
              <a:rPr lang="en-US" sz="1200" dirty="0">
                <a:solidFill>
                  <a:srgbClr val="1B1633"/>
                </a:solidFill>
                <a:latin typeface="Calibri" pitchFamily="34" charset="0"/>
                <a:ea typeface="Calibri" pitchFamily="34" charset="-122"/>
                <a:cs typeface="Calibri" pitchFamily="34" charset="-120"/>
              </a:rPr>
              <a:t>Edit every field: LoRA rank, LR schedule, EMA, freezing and more.</a:t>
            </a:r>
            <a:endParaRPr lang="en-US" sz="1200" dirty="0"/>
          </a:p>
        </p:txBody>
      </p:sp>
      <p:sp>
        <p:nvSpPr>
          <p:cNvPr id="44" name="Shape 35"/>
          <p:cNvSpPr/>
          <p:nvPr/>
        </p:nvSpPr>
        <p:spPr>
          <a:xfrm>
            <a:off x="6126480" y="3611880"/>
            <a:ext cx="2560320" cy="1005840"/>
          </a:xfrm>
          <a:prstGeom prst="roundRect">
            <a:avLst>
              <a:gd name="adj" fmla="val 7273"/>
            </a:avLst>
          </a:prstGeom>
          <a:solidFill>
            <a:srgbClr val="FFFFFF"/>
          </a:solidFill>
          <a:ln w="12700">
            <a:solidFill>
              <a:srgbClr val="DAD7EA"/>
            </a:solidFill>
            <a:prstDash val="solid"/>
          </a:ln>
          <a:effectLst>
            <a:outerShdw sx="100000" sy="100000" kx="0" ky="0" algn="bl" rotWithShape="0" blurRad="76200" dist="25400" dir="5400000">
              <a:srgbClr val="000000">
                <a:alpha val="8000"/>
              </a:srgbClr>
            </a:outerShdw>
          </a:effectLst>
        </p:spPr>
      </p:sp>
      <p:sp>
        <p:nvSpPr>
          <p:cNvPr id="45" name="Text 36"/>
          <p:cNvSpPr txBox="1"/>
          <p:nvPr/>
        </p:nvSpPr>
        <p:spPr>
          <a:xfrm>
            <a:off x="6309360" y="3703320"/>
            <a:ext cx="2194560" cy="274320"/>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No simulated training</a:t>
            </a:r>
            <a:endParaRPr lang="en-US" sz="1400" dirty="0"/>
          </a:p>
        </p:txBody>
      </p:sp>
      <p:sp>
        <p:nvSpPr>
          <p:cNvPr id="46" name="Text 37"/>
          <p:cNvSpPr txBox="1"/>
          <p:nvPr/>
        </p:nvSpPr>
        <p:spPr>
          <a:xfrm>
            <a:off x="6309360" y="3977640"/>
            <a:ext cx="2194560" cy="548640"/>
          </a:xfrm>
          <a:prstGeom prst="rect">
            <a:avLst/>
          </a:prstGeom>
          <a:noFill/>
          <a:ln/>
        </p:spPr>
        <p:txBody>
          <a:bodyPr wrap="square" lIns="0" tIns="0" rIns="0" bIns="0" rtlCol="0" anchor="t"/>
          <a:lstStyle/>
          <a:p>
            <a:pPr indent="0" marL="0">
              <a:buNone/>
            </a:pPr>
            <a:r>
              <a:rPr lang="en-US" sz="1200" dirty="0">
                <a:solidFill>
                  <a:srgbClr val="1B1633"/>
                </a:solidFill>
                <a:latin typeface="Calibri" pitchFamily="34" charset="0"/>
                <a:ea typeface="Calibri" pitchFamily="34" charset="-122"/>
                <a:cs typeface="Calibri" pitchFamily="34" charset="-120"/>
              </a:rPr>
              <a:t>If a model or method can't run, the registry says unsupported and why.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685800"/>
          </a:xfrm>
          <a:prstGeom prst="rect">
            <a:avLst/>
          </a:prstGeom>
          <a:noFill/>
          <a:ln/>
        </p:spPr>
        <p:txBody>
          <a:bodyPr wrap="square" lIns="0" tIns="0" rIns="0" bIns="0" rtlCol="0" anchor="ctr"/>
          <a:lstStyle/>
          <a:p>
            <a:pPr indent="0" marL="0">
              <a:buNone/>
            </a:pPr>
            <a:r>
              <a:rPr lang="en-US" sz="3000" b="1" dirty="0">
                <a:solidFill>
                  <a:srgbClr val="15112B"/>
                </a:solidFill>
                <a:latin typeface="Cambria" pitchFamily="34" charset="0"/>
                <a:ea typeface="Cambria" pitchFamily="34" charset="-122"/>
                <a:cs typeface="Cambria" pitchFamily="34" charset="-120"/>
              </a:rPr>
              <a:t>Data prep: analyze, clean, augment</a:t>
            </a:r>
            <a:endParaRPr lang="en-US" sz="3000" dirty="0"/>
          </a:p>
        </p:txBody>
      </p:sp>
      <p:sp>
        <p:nvSpPr>
          <p:cNvPr id="3" name="Shape 1"/>
          <p:cNvSpPr/>
          <p:nvPr/>
        </p:nvSpPr>
        <p:spPr>
          <a:xfrm>
            <a:off x="8001000" y="534924"/>
            <a:ext cx="64008" cy="164592"/>
          </a:xfrm>
          <a:prstGeom prst="roundRect">
            <a:avLst>
              <a:gd name="adj" fmla="val 50000"/>
            </a:avLst>
          </a:prstGeom>
          <a:solidFill>
            <a:srgbClr val="0E8A77"/>
          </a:solidFill>
          <a:ln/>
        </p:spPr>
      </p:sp>
      <p:sp>
        <p:nvSpPr>
          <p:cNvPr id="4" name="Shape 2"/>
          <p:cNvSpPr/>
          <p:nvPr/>
        </p:nvSpPr>
        <p:spPr>
          <a:xfrm>
            <a:off x="8110728" y="452628"/>
            <a:ext cx="64008" cy="329184"/>
          </a:xfrm>
          <a:prstGeom prst="roundRect">
            <a:avLst>
              <a:gd name="adj" fmla="val 50000"/>
            </a:avLst>
          </a:prstGeom>
          <a:solidFill>
            <a:srgbClr val="F5A524"/>
          </a:solidFill>
          <a:ln/>
        </p:spPr>
      </p:sp>
      <p:sp>
        <p:nvSpPr>
          <p:cNvPr id="5" name="Shape 3"/>
          <p:cNvSpPr/>
          <p:nvPr/>
        </p:nvSpPr>
        <p:spPr>
          <a:xfrm>
            <a:off x="8220456" y="411480"/>
            <a:ext cx="64008" cy="411480"/>
          </a:xfrm>
          <a:prstGeom prst="roundRect">
            <a:avLst>
              <a:gd name="adj" fmla="val 50000"/>
            </a:avLst>
          </a:prstGeom>
          <a:solidFill>
            <a:srgbClr val="0E8A77"/>
          </a:solidFill>
          <a:ln/>
        </p:spPr>
      </p:sp>
      <p:sp>
        <p:nvSpPr>
          <p:cNvPr id="6" name="Shape 4"/>
          <p:cNvSpPr/>
          <p:nvPr/>
        </p:nvSpPr>
        <p:spPr>
          <a:xfrm>
            <a:off x="8330184" y="493776"/>
            <a:ext cx="64008" cy="246888"/>
          </a:xfrm>
          <a:prstGeom prst="roundRect">
            <a:avLst>
              <a:gd name="adj" fmla="val 50000"/>
            </a:avLst>
          </a:prstGeom>
          <a:solidFill>
            <a:srgbClr val="F5A524"/>
          </a:solidFill>
          <a:ln/>
        </p:spPr>
      </p:sp>
      <p:sp>
        <p:nvSpPr>
          <p:cNvPr id="7" name="Shape 5"/>
          <p:cNvSpPr/>
          <p:nvPr/>
        </p:nvSpPr>
        <p:spPr>
          <a:xfrm>
            <a:off x="8439912" y="555498"/>
            <a:ext cx="64008" cy="123444"/>
          </a:xfrm>
          <a:prstGeom prst="roundRect">
            <a:avLst>
              <a:gd name="adj" fmla="val 50000"/>
            </a:avLst>
          </a:prstGeom>
          <a:solidFill>
            <a:srgbClr val="0E8A77"/>
          </a:solidFill>
          <a:ln/>
        </p:spPr>
      </p:sp>
      <p:sp>
        <p:nvSpPr>
          <p:cNvPr id="8" name="Text 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F5B78"/>
                </a:solidFill>
                <a:latin typeface="Calibri" pitchFamily="34" charset="0"/>
                <a:ea typeface="Calibri" pitchFamily="34" charset="-122"/>
                <a:cs typeface="Calibri" pitchFamily="34" charset="-120"/>
              </a:rPr>
              <a:t>3</a:t>
            </a:r>
            <a:endParaRPr lang="en-US" sz="1000" dirty="0"/>
          </a:p>
        </p:txBody>
      </p:sp>
      <p:sp>
        <p:nvSpPr>
          <p:cNvPr id="9" name="Shape 7"/>
          <p:cNvSpPr/>
          <p:nvPr/>
        </p:nvSpPr>
        <p:spPr>
          <a:xfrm>
            <a:off x="457200" y="1143000"/>
            <a:ext cx="2560320" cy="3291840"/>
          </a:xfrm>
          <a:prstGeom prst="roundRect">
            <a:avLst>
              <a:gd name="adj" fmla="val 2857"/>
            </a:avLst>
          </a:prstGeom>
          <a:solidFill>
            <a:srgbClr val="FFFFFF"/>
          </a:solidFill>
          <a:ln w="12700">
            <a:solidFill>
              <a:srgbClr val="DAD7EA"/>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40080" y="1325880"/>
            <a:ext cx="457200" cy="457200"/>
          </a:xfrm>
          <a:prstGeom prst="ellipse">
            <a:avLst/>
          </a:prstGeom>
          <a:solidFill>
            <a:srgbClr val="0E8A77"/>
          </a:solidFill>
          <a:ln/>
        </p:spPr>
      </p:sp>
      <p:pic>
        <p:nvPicPr>
          <p:cNvPr id="11" name="Image 0" descr="preencoded.png">    </p:cNvPr>
          <p:cNvPicPr>
            <a:picLocks noChangeAspect="1"/>
          </p:cNvPicPr>
          <p:nvPr/>
        </p:nvPicPr>
        <p:blipFill>
          <a:blip r:embed="rId1"/>
          <a:stretch>
            <a:fillRect/>
          </a:stretch>
        </p:blipFill>
        <p:spPr>
          <a:xfrm>
            <a:off x="749808" y="1435608"/>
            <a:ext cx="237744" cy="237744"/>
          </a:xfrm>
          <a:prstGeom prst="rect">
            <a:avLst/>
          </a:prstGeom>
        </p:spPr>
      </p:pic>
      <p:sp>
        <p:nvSpPr>
          <p:cNvPr id="12" name="Text 9"/>
          <p:cNvSpPr txBox="1"/>
          <p:nvPr/>
        </p:nvSpPr>
        <p:spPr>
          <a:xfrm>
            <a:off x="1234440" y="1325880"/>
            <a:ext cx="1645920" cy="457200"/>
          </a:xfrm>
          <a:prstGeom prst="rect">
            <a:avLst/>
          </a:prstGeom>
          <a:noFill/>
          <a:ln/>
        </p:spPr>
        <p:txBody>
          <a:bodyPr wrap="square" lIns="0" tIns="0" rIns="0" bIns="0" rtlCol="0" anchor="ctr"/>
          <a:lstStyle/>
          <a:p>
            <a:pPr indent="0" marL="0">
              <a:buNone/>
            </a:pPr>
            <a:r>
              <a:rPr lang="en-US" sz="1600" b="1" dirty="0">
                <a:solidFill>
                  <a:srgbClr val="15112B"/>
                </a:solidFill>
                <a:latin typeface="Calibri" pitchFamily="34" charset="0"/>
                <a:ea typeface="Calibri" pitchFamily="34" charset="-122"/>
                <a:cs typeface="Calibri" pitchFamily="34" charset="-120"/>
              </a:rPr>
              <a:t>1  Analyze</a:t>
            </a:r>
            <a:endParaRPr lang="en-US" sz="1600" dirty="0"/>
          </a:p>
        </p:txBody>
      </p:sp>
      <p:sp>
        <p:nvSpPr>
          <p:cNvPr id="13" name="Shape 10"/>
          <p:cNvSpPr/>
          <p:nvPr/>
        </p:nvSpPr>
        <p:spPr>
          <a:xfrm>
            <a:off x="3291840" y="1143000"/>
            <a:ext cx="2560320" cy="3291840"/>
          </a:xfrm>
          <a:prstGeom prst="roundRect">
            <a:avLst>
              <a:gd name="adj" fmla="val 2857"/>
            </a:avLst>
          </a:prstGeom>
          <a:solidFill>
            <a:srgbClr val="FFFFFF"/>
          </a:solidFill>
          <a:ln w="12700">
            <a:solidFill>
              <a:srgbClr val="DAD7EA"/>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3474720" y="1325880"/>
            <a:ext cx="457200" cy="457200"/>
          </a:xfrm>
          <a:prstGeom prst="ellipse">
            <a:avLst/>
          </a:prstGeom>
          <a:solidFill>
            <a:srgbClr val="6B4FE0"/>
          </a:solidFill>
          <a:ln/>
        </p:spPr>
      </p:sp>
      <p:pic>
        <p:nvPicPr>
          <p:cNvPr id="15" name="Image 1" descr="preencoded.png">    </p:cNvPr>
          <p:cNvPicPr>
            <a:picLocks noChangeAspect="1"/>
          </p:cNvPicPr>
          <p:nvPr/>
        </p:nvPicPr>
        <p:blipFill>
          <a:blip r:embed="rId2"/>
          <a:stretch>
            <a:fillRect/>
          </a:stretch>
        </p:blipFill>
        <p:spPr>
          <a:xfrm>
            <a:off x="3584448" y="1435608"/>
            <a:ext cx="237744" cy="237744"/>
          </a:xfrm>
          <a:prstGeom prst="rect">
            <a:avLst/>
          </a:prstGeom>
        </p:spPr>
      </p:pic>
      <p:sp>
        <p:nvSpPr>
          <p:cNvPr id="16" name="Text 12"/>
          <p:cNvSpPr txBox="1"/>
          <p:nvPr/>
        </p:nvSpPr>
        <p:spPr>
          <a:xfrm>
            <a:off x="4069080" y="1325880"/>
            <a:ext cx="1645920" cy="457200"/>
          </a:xfrm>
          <a:prstGeom prst="rect">
            <a:avLst/>
          </a:prstGeom>
          <a:noFill/>
          <a:ln/>
        </p:spPr>
        <p:txBody>
          <a:bodyPr wrap="square" lIns="0" tIns="0" rIns="0" bIns="0" rtlCol="0" anchor="ctr"/>
          <a:lstStyle/>
          <a:p>
            <a:pPr indent="0" marL="0">
              <a:buNone/>
            </a:pPr>
            <a:r>
              <a:rPr lang="en-US" sz="1600" b="1" dirty="0">
                <a:solidFill>
                  <a:srgbClr val="15112B"/>
                </a:solidFill>
                <a:latin typeface="Calibri" pitchFamily="34" charset="0"/>
                <a:ea typeface="Calibri" pitchFamily="34" charset="-122"/>
                <a:cs typeface="Calibri" pitchFamily="34" charset="-120"/>
              </a:rPr>
              <a:t>2  Prepare</a:t>
            </a:r>
            <a:endParaRPr lang="en-US" sz="1600" dirty="0"/>
          </a:p>
        </p:txBody>
      </p:sp>
      <p:sp>
        <p:nvSpPr>
          <p:cNvPr id="17" name="Shape 13"/>
          <p:cNvSpPr/>
          <p:nvPr/>
        </p:nvSpPr>
        <p:spPr>
          <a:xfrm>
            <a:off x="6126480" y="1143000"/>
            <a:ext cx="2560320" cy="3291840"/>
          </a:xfrm>
          <a:prstGeom prst="roundRect">
            <a:avLst>
              <a:gd name="adj" fmla="val 2857"/>
            </a:avLst>
          </a:prstGeom>
          <a:solidFill>
            <a:srgbClr val="FFFFFF"/>
          </a:solidFill>
          <a:ln w="12700">
            <a:solidFill>
              <a:srgbClr val="DAD7EA"/>
            </a:solidFill>
            <a:prstDash val="solid"/>
          </a:ln>
          <a:effectLst>
            <a:outerShdw sx="100000" sy="100000" kx="0" ky="0" algn="bl" rotWithShape="0" blurRad="76200" dist="25400" dir="5400000">
              <a:srgbClr val="000000">
                <a:alpha val="8000"/>
              </a:srgbClr>
            </a:outerShdw>
          </a:effectLst>
        </p:spPr>
      </p:sp>
      <p:sp>
        <p:nvSpPr>
          <p:cNvPr id="18" name="Shape 14"/>
          <p:cNvSpPr/>
          <p:nvPr/>
        </p:nvSpPr>
        <p:spPr>
          <a:xfrm>
            <a:off x="6309360" y="1325880"/>
            <a:ext cx="457200" cy="457200"/>
          </a:xfrm>
          <a:prstGeom prst="ellipse">
            <a:avLst/>
          </a:prstGeom>
          <a:solidFill>
            <a:srgbClr val="C2410C"/>
          </a:solidFill>
          <a:ln/>
        </p:spPr>
      </p:sp>
      <p:pic>
        <p:nvPicPr>
          <p:cNvPr id="19" name="Image 2" descr="preencoded.png">    </p:cNvPr>
          <p:cNvPicPr>
            <a:picLocks noChangeAspect="1"/>
          </p:cNvPicPr>
          <p:nvPr/>
        </p:nvPicPr>
        <p:blipFill>
          <a:blip r:embed="rId3"/>
          <a:stretch>
            <a:fillRect/>
          </a:stretch>
        </p:blipFill>
        <p:spPr>
          <a:xfrm>
            <a:off x="6419088" y="1435608"/>
            <a:ext cx="237744" cy="237744"/>
          </a:xfrm>
          <a:prstGeom prst="rect">
            <a:avLst/>
          </a:prstGeom>
        </p:spPr>
      </p:pic>
      <p:sp>
        <p:nvSpPr>
          <p:cNvPr id="20" name="Text 15"/>
          <p:cNvSpPr txBox="1"/>
          <p:nvPr/>
        </p:nvSpPr>
        <p:spPr>
          <a:xfrm>
            <a:off x="6903720" y="1325880"/>
            <a:ext cx="1645920" cy="457200"/>
          </a:xfrm>
          <a:prstGeom prst="rect">
            <a:avLst/>
          </a:prstGeom>
          <a:noFill/>
          <a:ln/>
        </p:spPr>
        <p:txBody>
          <a:bodyPr wrap="square" lIns="0" tIns="0" rIns="0" bIns="0" rtlCol="0" anchor="ctr"/>
          <a:lstStyle/>
          <a:p>
            <a:pPr indent="0" marL="0">
              <a:buNone/>
            </a:pPr>
            <a:r>
              <a:rPr lang="en-US" sz="1600" b="1" dirty="0">
                <a:solidFill>
                  <a:srgbClr val="15112B"/>
                </a:solidFill>
                <a:latin typeface="Calibri" pitchFamily="34" charset="0"/>
                <a:ea typeface="Calibri" pitchFamily="34" charset="-122"/>
                <a:cs typeface="Calibri" pitchFamily="34" charset="-120"/>
              </a:rPr>
              <a:t>3  Augment (STT)</a:t>
            </a:r>
            <a:endParaRPr lang="en-US" sz="1600" dirty="0"/>
          </a:p>
        </p:txBody>
      </p:sp>
      <p:sp>
        <p:nvSpPr>
          <p:cNvPr id="21" name="Text 16"/>
          <p:cNvSpPr txBox="1"/>
          <p:nvPr/>
        </p:nvSpPr>
        <p:spPr>
          <a:xfrm>
            <a:off x="640080" y="1920240"/>
            <a:ext cx="2194560" cy="502920"/>
          </a:xfrm>
          <a:prstGeom prst="rect">
            <a:avLst/>
          </a:prstGeom>
          <a:noFill/>
          <a:ln/>
        </p:spPr>
        <p:txBody>
          <a:bodyPr wrap="square" lIns="0" tIns="0" rIns="0" bIns="0" rtlCol="0" anchor="t"/>
          <a:lstStyle/>
          <a:p>
            <a:pPr indent="0" marL="0">
              <a:buNone/>
            </a:pPr>
            <a:r>
              <a:rPr lang="en-US" sz="1200" dirty="0">
                <a:solidFill>
                  <a:srgbClr val="1B1633"/>
                </a:solidFill>
                <a:latin typeface="Calibri" pitchFamily="34" charset="0"/>
                <a:ea typeface="Calibri" pitchFamily="34" charset="-122"/>
                <a:cs typeface="Calibri" pitchFamily="34" charset="-120"/>
              </a:rPr>
              <a:t>Measures duration, sample rate, speakers, script, vocabulary. Flags:</a:t>
            </a:r>
            <a:endParaRPr lang="en-US" sz="1200" dirty="0"/>
          </a:p>
        </p:txBody>
      </p:sp>
      <p:sp>
        <p:nvSpPr>
          <p:cNvPr id="22" name="Shape 17"/>
          <p:cNvSpPr/>
          <p:nvPr/>
        </p:nvSpPr>
        <p:spPr>
          <a:xfrm>
            <a:off x="640080" y="2514600"/>
            <a:ext cx="1097280" cy="292608"/>
          </a:xfrm>
          <a:prstGeom prst="roundRect">
            <a:avLst>
              <a:gd name="adj" fmla="val 50000"/>
            </a:avLst>
          </a:prstGeom>
          <a:solidFill>
            <a:srgbClr val="E3F7F3"/>
          </a:solidFill>
          <a:ln/>
        </p:spPr>
      </p:sp>
      <p:sp>
        <p:nvSpPr>
          <p:cNvPr id="23" name="Text 18"/>
          <p:cNvSpPr txBox="1"/>
          <p:nvPr/>
        </p:nvSpPr>
        <p:spPr>
          <a:xfrm>
            <a:off x="640080" y="2514600"/>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missing / corrupt</a:t>
            </a:r>
            <a:endParaRPr lang="en-US" sz="1050" dirty="0"/>
          </a:p>
        </p:txBody>
      </p:sp>
      <p:sp>
        <p:nvSpPr>
          <p:cNvPr id="24" name="Shape 19"/>
          <p:cNvSpPr/>
          <p:nvPr/>
        </p:nvSpPr>
        <p:spPr>
          <a:xfrm>
            <a:off x="1801368" y="2514600"/>
            <a:ext cx="1097280" cy="292608"/>
          </a:xfrm>
          <a:prstGeom prst="roundRect">
            <a:avLst>
              <a:gd name="adj" fmla="val 50000"/>
            </a:avLst>
          </a:prstGeom>
          <a:solidFill>
            <a:srgbClr val="E3F7F3"/>
          </a:solidFill>
          <a:ln/>
        </p:spPr>
      </p:sp>
      <p:sp>
        <p:nvSpPr>
          <p:cNvPr id="25" name="Text 20"/>
          <p:cNvSpPr txBox="1"/>
          <p:nvPr/>
        </p:nvSpPr>
        <p:spPr>
          <a:xfrm>
            <a:off x="1801368" y="2514600"/>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silent</a:t>
            </a:r>
            <a:endParaRPr lang="en-US" sz="1050" dirty="0"/>
          </a:p>
        </p:txBody>
      </p:sp>
      <p:sp>
        <p:nvSpPr>
          <p:cNvPr id="26" name="Shape 21"/>
          <p:cNvSpPr/>
          <p:nvPr/>
        </p:nvSpPr>
        <p:spPr>
          <a:xfrm>
            <a:off x="640080" y="2898648"/>
            <a:ext cx="1097280" cy="292608"/>
          </a:xfrm>
          <a:prstGeom prst="roundRect">
            <a:avLst>
              <a:gd name="adj" fmla="val 50000"/>
            </a:avLst>
          </a:prstGeom>
          <a:solidFill>
            <a:srgbClr val="E3F7F3"/>
          </a:solidFill>
          <a:ln/>
        </p:spPr>
      </p:sp>
      <p:sp>
        <p:nvSpPr>
          <p:cNvPr id="27" name="Text 22"/>
          <p:cNvSpPr txBox="1"/>
          <p:nvPr/>
        </p:nvSpPr>
        <p:spPr>
          <a:xfrm>
            <a:off x="640080" y="2898648"/>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too short / long</a:t>
            </a:r>
            <a:endParaRPr lang="en-US" sz="1050" dirty="0"/>
          </a:p>
        </p:txBody>
      </p:sp>
      <p:sp>
        <p:nvSpPr>
          <p:cNvPr id="28" name="Shape 23"/>
          <p:cNvSpPr/>
          <p:nvPr/>
        </p:nvSpPr>
        <p:spPr>
          <a:xfrm>
            <a:off x="1801368" y="2898648"/>
            <a:ext cx="1097280" cy="292608"/>
          </a:xfrm>
          <a:prstGeom prst="roundRect">
            <a:avLst>
              <a:gd name="adj" fmla="val 50000"/>
            </a:avLst>
          </a:prstGeom>
          <a:solidFill>
            <a:srgbClr val="E3F7F3"/>
          </a:solidFill>
          <a:ln/>
        </p:spPr>
      </p:sp>
      <p:sp>
        <p:nvSpPr>
          <p:cNvPr id="29" name="Text 24"/>
          <p:cNvSpPr txBox="1"/>
          <p:nvPr/>
        </p:nvSpPr>
        <p:spPr>
          <a:xfrm>
            <a:off x="1801368" y="2898648"/>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noisy</a:t>
            </a:r>
            <a:endParaRPr lang="en-US" sz="1050" dirty="0"/>
          </a:p>
        </p:txBody>
      </p:sp>
      <p:sp>
        <p:nvSpPr>
          <p:cNvPr id="30" name="Shape 25"/>
          <p:cNvSpPr/>
          <p:nvPr/>
        </p:nvSpPr>
        <p:spPr>
          <a:xfrm>
            <a:off x="640080" y="3282696"/>
            <a:ext cx="1097280" cy="292608"/>
          </a:xfrm>
          <a:prstGeom prst="roundRect">
            <a:avLst>
              <a:gd name="adj" fmla="val 50000"/>
            </a:avLst>
          </a:prstGeom>
          <a:solidFill>
            <a:srgbClr val="E3F7F3"/>
          </a:solidFill>
          <a:ln/>
        </p:spPr>
      </p:sp>
      <p:sp>
        <p:nvSpPr>
          <p:cNvPr id="31" name="Text 26"/>
          <p:cNvSpPr txBox="1"/>
          <p:nvPr/>
        </p:nvSpPr>
        <p:spPr>
          <a:xfrm>
            <a:off x="640080" y="3282696"/>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clipped</a:t>
            </a:r>
            <a:endParaRPr lang="en-US" sz="1050" dirty="0"/>
          </a:p>
        </p:txBody>
      </p:sp>
      <p:sp>
        <p:nvSpPr>
          <p:cNvPr id="32" name="Shape 27"/>
          <p:cNvSpPr/>
          <p:nvPr/>
        </p:nvSpPr>
        <p:spPr>
          <a:xfrm>
            <a:off x="1801368" y="3282696"/>
            <a:ext cx="1097280" cy="292608"/>
          </a:xfrm>
          <a:prstGeom prst="roundRect">
            <a:avLst>
              <a:gd name="adj" fmla="val 50000"/>
            </a:avLst>
          </a:prstGeom>
          <a:solidFill>
            <a:srgbClr val="E3F7F3"/>
          </a:solidFill>
          <a:ln/>
        </p:spPr>
      </p:sp>
      <p:sp>
        <p:nvSpPr>
          <p:cNvPr id="33" name="Text 28"/>
          <p:cNvSpPr txBox="1"/>
          <p:nvPr/>
        </p:nvSpPr>
        <p:spPr>
          <a:xfrm>
            <a:off x="1801368" y="3282696"/>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low sample rate</a:t>
            </a:r>
            <a:endParaRPr lang="en-US" sz="1050" dirty="0"/>
          </a:p>
        </p:txBody>
      </p:sp>
      <p:sp>
        <p:nvSpPr>
          <p:cNvPr id="34" name="Shape 29"/>
          <p:cNvSpPr/>
          <p:nvPr/>
        </p:nvSpPr>
        <p:spPr>
          <a:xfrm>
            <a:off x="640080" y="3666744"/>
            <a:ext cx="1097280" cy="292608"/>
          </a:xfrm>
          <a:prstGeom prst="roundRect">
            <a:avLst>
              <a:gd name="adj" fmla="val 50000"/>
            </a:avLst>
          </a:prstGeom>
          <a:solidFill>
            <a:srgbClr val="E3F7F3"/>
          </a:solidFill>
          <a:ln/>
        </p:spPr>
      </p:sp>
      <p:sp>
        <p:nvSpPr>
          <p:cNvPr id="35" name="Text 30"/>
          <p:cNvSpPr txBox="1"/>
          <p:nvPr/>
        </p:nvSpPr>
        <p:spPr>
          <a:xfrm>
            <a:off x="640080" y="3666744"/>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empty transcript</a:t>
            </a:r>
            <a:endParaRPr lang="en-US" sz="1050" dirty="0"/>
          </a:p>
        </p:txBody>
      </p:sp>
      <p:sp>
        <p:nvSpPr>
          <p:cNvPr id="36" name="Shape 31"/>
          <p:cNvSpPr/>
          <p:nvPr/>
        </p:nvSpPr>
        <p:spPr>
          <a:xfrm>
            <a:off x="1801368" y="3666744"/>
            <a:ext cx="1097280" cy="292608"/>
          </a:xfrm>
          <a:prstGeom prst="roundRect">
            <a:avLst>
              <a:gd name="adj" fmla="val 50000"/>
            </a:avLst>
          </a:prstGeom>
          <a:solidFill>
            <a:srgbClr val="E3F7F3"/>
          </a:solidFill>
          <a:ln/>
        </p:spPr>
      </p:sp>
      <p:sp>
        <p:nvSpPr>
          <p:cNvPr id="37" name="Text 32"/>
          <p:cNvSpPr txBox="1"/>
          <p:nvPr/>
        </p:nvSpPr>
        <p:spPr>
          <a:xfrm>
            <a:off x="1801368" y="3666744"/>
            <a:ext cx="1097280" cy="292608"/>
          </a:xfrm>
          <a:prstGeom prst="rect">
            <a:avLst/>
          </a:prstGeom>
          <a:noFill/>
          <a:ln/>
        </p:spPr>
        <p:txBody>
          <a:bodyPr wrap="square" lIns="0" tIns="0" rIns="0" bIns="0" rtlCol="0" anchor="ctr"/>
          <a:lstStyle/>
          <a:p>
            <a:pPr algn="ctr" indent="0" marL="0">
              <a:buNone/>
            </a:pPr>
            <a:r>
              <a:rPr lang="en-US" sz="1050" dirty="0">
                <a:solidFill>
                  <a:srgbClr val="0B5E50"/>
                </a:solidFill>
                <a:latin typeface="Calibri" pitchFamily="34" charset="0"/>
                <a:ea typeface="Calibri" pitchFamily="34" charset="-122"/>
                <a:cs typeface="Calibri" pitchFamily="34" charset="-120"/>
              </a:rPr>
              <a:t>duplicate</a:t>
            </a:r>
            <a:endParaRPr lang="en-US" sz="1050" dirty="0"/>
          </a:p>
        </p:txBody>
      </p:sp>
      <p:sp>
        <p:nvSpPr>
          <p:cNvPr id="38" name="Text 33"/>
          <p:cNvSpPr txBox="1"/>
          <p:nvPr/>
        </p:nvSpPr>
        <p:spPr>
          <a:xfrm>
            <a:off x="640080" y="4023360"/>
            <a:ext cx="2194560" cy="365760"/>
          </a:xfrm>
          <a:prstGeom prst="rect">
            <a:avLst/>
          </a:prstGeom>
          <a:noFill/>
          <a:ln/>
        </p:spPr>
        <p:txBody>
          <a:bodyPr wrap="square" lIns="0" tIns="0" rIns="0" bIns="0" rtlCol="0" anchor="t"/>
          <a:lstStyle/>
          <a:p>
            <a:pPr indent="0" marL="0">
              <a:buNone/>
            </a:pPr>
            <a:r>
              <a:rPr lang="en-US" sz="1100" i="1" dirty="0">
                <a:solidFill>
                  <a:srgbClr val="5F5B78"/>
                </a:solidFill>
                <a:latin typeface="Calibri" pitchFamily="34" charset="0"/>
                <a:ea typeface="Calibri" pitchFamily="34" charset="-122"/>
                <a:cs typeface="Calibri" pitchFamily="34" charset="-120"/>
              </a:rPr>
              <a:t>Quality score: audio, transcript, speaker balance, diversity.</a:t>
            </a:r>
            <a:endParaRPr lang="en-US" sz="1100" dirty="0"/>
          </a:p>
        </p:txBody>
      </p:sp>
      <p:sp>
        <p:nvSpPr>
          <p:cNvPr id="39" name="Text 34"/>
          <p:cNvSpPr txBox="1"/>
          <p:nvPr/>
        </p:nvSpPr>
        <p:spPr>
          <a:xfrm>
            <a:off x="3474720" y="1965960"/>
            <a:ext cx="2194560" cy="256032"/>
          </a:xfrm>
          <a:prstGeom prst="rect">
            <a:avLst/>
          </a:prstGeom>
          <a:noFill/>
          <a:ln/>
        </p:spPr>
        <p:txBody>
          <a:bodyPr wrap="square" lIns="0" tIns="0" rIns="0" bIns="0" rtlCol="0" anchor="ctr"/>
          <a:lstStyle/>
          <a:p>
            <a:pPr indent="0" marL="0">
              <a:buNone/>
            </a:pPr>
            <a:r>
              <a:rPr lang="en-US" sz="1300" b="1" dirty="0">
                <a:solidFill>
                  <a:srgbClr val="15112B"/>
                </a:solidFill>
                <a:latin typeface="Calibri" pitchFamily="34" charset="0"/>
                <a:ea typeface="Calibri" pitchFamily="34" charset="-122"/>
                <a:cs typeface="Calibri" pitchFamily="34" charset="-120"/>
              </a:rPr>
              <a:t>Drop flagged clips</a:t>
            </a:r>
            <a:endParaRPr lang="en-US" sz="1300" dirty="0"/>
          </a:p>
        </p:txBody>
      </p:sp>
      <p:sp>
        <p:nvSpPr>
          <p:cNvPr id="40" name="Text 35"/>
          <p:cNvSpPr txBox="1"/>
          <p:nvPr/>
        </p:nvSpPr>
        <p:spPr>
          <a:xfrm>
            <a:off x="3474720" y="2221992"/>
            <a:ext cx="2194560" cy="457200"/>
          </a:xfrm>
          <a:prstGeom prst="rect">
            <a:avLst/>
          </a:prstGeom>
          <a:noFill/>
          <a:ln/>
        </p:spPr>
        <p:txBody>
          <a:bodyPr wrap="square" lIns="0" tIns="0" rIns="0" bIns="0" rtlCol="0" anchor="t"/>
          <a:lstStyle/>
          <a:p>
            <a:pPr indent="0" marL="0">
              <a:buNone/>
            </a:pPr>
            <a:r>
              <a:rPr lang="en-US" sz="1200" dirty="0">
                <a:solidFill>
                  <a:srgbClr val="5F5B78"/>
                </a:solidFill>
                <a:latin typeface="Calibri" pitchFamily="34" charset="0"/>
                <a:ea typeface="Calibri" pitchFamily="34" charset="-122"/>
                <a:cs typeface="Calibri" pitchFamily="34" charset="-120"/>
              </a:rPr>
              <a:t>Only clean audio reaches training.</a:t>
            </a:r>
            <a:endParaRPr lang="en-US" sz="1200" dirty="0"/>
          </a:p>
        </p:txBody>
      </p:sp>
      <p:sp>
        <p:nvSpPr>
          <p:cNvPr id="41" name="Text 36"/>
          <p:cNvSpPr txBox="1"/>
          <p:nvPr/>
        </p:nvSpPr>
        <p:spPr>
          <a:xfrm>
            <a:off x="3474720" y="2697480"/>
            <a:ext cx="2194560" cy="256032"/>
          </a:xfrm>
          <a:prstGeom prst="rect">
            <a:avLst/>
          </a:prstGeom>
          <a:noFill/>
          <a:ln/>
        </p:spPr>
        <p:txBody>
          <a:bodyPr wrap="square" lIns="0" tIns="0" rIns="0" bIns="0" rtlCol="0" anchor="ctr"/>
          <a:lstStyle/>
          <a:p>
            <a:pPr indent="0" marL="0">
              <a:buNone/>
            </a:pPr>
            <a:r>
              <a:rPr lang="en-US" sz="1300" b="1" dirty="0">
                <a:solidFill>
                  <a:srgbClr val="15112B"/>
                </a:solidFill>
                <a:latin typeface="Calibri" pitchFamily="34" charset="0"/>
                <a:ea typeface="Calibri" pitchFamily="34" charset="-122"/>
                <a:cs typeface="Calibri" pitchFamily="34" charset="-120"/>
              </a:rPr>
              <a:t>16 kHz mono</a:t>
            </a:r>
            <a:endParaRPr lang="en-US" sz="1300" dirty="0"/>
          </a:p>
        </p:txBody>
      </p:sp>
      <p:sp>
        <p:nvSpPr>
          <p:cNvPr id="42" name="Text 37"/>
          <p:cNvSpPr txBox="1"/>
          <p:nvPr/>
        </p:nvSpPr>
        <p:spPr>
          <a:xfrm>
            <a:off x="3474720" y="2953512"/>
            <a:ext cx="2194560" cy="457200"/>
          </a:xfrm>
          <a:prstGeom prst="rect">
            <a:avLst/>
          </a:prstGeom>
          <a:noFill/>
          <a:ln/>
        </p:spPr>
        <p:txBody>
          <a:bodyPr wrap="square" lIns="0" tIns="0" rIns="0" bIns="0" rtlCol="0" anchor="t"/>
          <a:lstStyle/>
          <a:p>
            <a:pPr indent="0" marL="0">
              <a:buNone/>
            </a:pPr>
            <a:r>
              <a:rPr lang="en-US" sz="1200" dirty="0">
                <a:solidFill>
                  <a:srgbClr val="5F5B78"/>
                </a:solidFill>
                <a:latin typeface="Calibri" pitchFamily="34" charset="0"/>
                <a:ea typeface="Calibri" pitchFamily="34" charset="-122"/>
                <a:cs typeface="Calibri" pitchFamily="34" charset="-120"/>
              </a:rPr>
              <a:t>The format Whisper and SpeechT5 expect.</a:t>
            </a:r>
            <a:endParaRPr lang="en-US" sz="1200" dirty="0"/>
          </a:p>
        </p:txBody>
      </p:sp>
      <p:sp>
        <p:nvSpPr>
          <p:cNvPr id="43" name="Text 38"/>
          <p:cNvSpPr txBox="1"/>
          <p:nvPr/>
        </p:nvSpPr>
        <p:spPr>
          <a:xfrm>
            <a:off x="3474720" y="3429000"/>
            <a:ext cx="2194560" cy="256032"/>
          </a:xfrm>
          <a:prstGeom prst="rect">
            <a:avLst/>
          </a:prstGeom>
          <a:noFill/>
          <a:ln/>
        </p:spPr>
        <p:txBody>
          <a:bodyPr wrap="square" lIns="0" tIns="0" rIns="0" bIns="0" rtlCol="0" anchor="ctr"/>
          <a:lstStyle/>
          <a:p>
            <a:pPr indent="0" marL="0">
              <a:buNone/>
            </a:pPr>
            <a:r>
              <a:rPr lang="en-US" sz="1300" b="1" dirty="0">
                <a:solidFill>
                  <a:srgbClr val="15112B"/>
                </a:solidFill>
                <a:latin typeface="Calibri" pitchFamily="34" charset="0"/>
                <a:ea typeface="Calibri" pitchFamily="34" charset="-122"/>
                <a:cs typeface="Calibri" pitchFamily="34" charset="-120"/>
              </a:rPr>
              <a:t>Leakage-safe split</a:t>
            </a:r>
            <a:endParaRPr lang="en-US" sz="1300" dirty="0"/>
          </a:p>
        </p:txBody>
      </p:sp>
      <p:sp>
        <p:nvSpPr>
          <p:cNvPr id="44" name="Text 39"/>
          <p:cNvSpPr txBox="1"/>
          <p:nvPr/>
        </p:nvSpPr>
        <p:spPr>
          <a:xfrm>
            <a:off x="3474720" y="3685032"/>
            <a:ext cx="2194560" cy="457200"/>
          </a:xfrm>
          <a:prstGeom prst="rect">
            <a:avLst/>
          </a:prstGeom>
          <a:noFill/>
          <a:ln/>
        </p:spPr>
        <p:txBody>
          <a:bodyPr wrap="square" lIns="0" tIns="0" rIns="0" bIns="0" rtlCol="0" anchor="t"/>
          <a:lstStyle/>
          <a:p>
            <a:pPr indent="0" marL="0">
              <a:buNone/>
            </a:pPr>
            <a:r>
              <a:rPr lang="en-US" sz="1200" dirty="0">
                <a:solidFill>
                  <a:srgbClr val="5F5B78"/>
                </a:solidFill>
                <a:latin typeface="Calibri" pitchFamily="34" charset="0"/>
                <a:ea typeface="Calibri" pitchFamily="34" charset="-122"/>
                <a:cs typeface="Calibri" pitchFamily="34" charset="-120"/>
              </a:rPr>
              <a:t>Identical sentences never cross train / val / test.</a:t>
            </a:r>
            <a:endParaRPr lang="en-US" sz="1200" dirty="0"/>
          </a:p>
        </p:txBody>
      </p:sp>
      <p:sp>
        <p:nvSpPr>
          <p:cNvPr id="45" name="Text 40"/>
          <p:cNvSpPr txBox="1"/>
          <p:nvPr/>
        </p:nvSpPr>
        <p:spPr>
          <a:xfrm>
            <a:off x="6309360" y="1920240"/>
            <a:ext cx="2194560" cy="502920"/>
          </a:xfrm>
          <a:prstGeom prst="rect">
            <a:avLst/>
          </a:prstGeom>
          <a:noFill/>
          <a:ln/>
        </p:spPr>
        <p:txBody>
          <a:bodyPr wrap="square" lIns="0" tIns="0" rIns="0" bIns="0" rtlCol="0" anchor="t"/>
          <a:lstStyle/>
          <a:p>
            <a:pPr indent="0" marL="0">
              <a:buNone/>
            </a:pPr>
            <a:r>
              <a:rPr lang="en-US" sz="1200" dirty="0">
                <a:solidFill>
                  <a:srgbClr val="1B1633"/>
                </a:solidFill>
                <a:latin typeface="Calibri" pitchFamily="34" charset="0"/>
                <a:ea typeface="Calibri" pitchFamily="34" charset="-122"/>
                <a:cs typeface="Calibri" pitchFamily="34" charset="-120"/>
              </a:rPr>
              <a:t>Applied to STT training data to make the model robust to real conditions:</a:t>
            </a:r>
            <a:endParaRPr lang="en-US" sz="1200" dirty="0"/>
          </a:p>
        </p:txBody>
      </p:sp>
      <p:sp>
        <p:nvSpPr>
          <p:cNvPr id="46" name="Shape 41"/>
          <p:cNvSpPr/>
          <p:nvPr/>
        </p:nvSpPr>
        <p:spPr>
          <a:xfrm>
            <a:off x="6309360" y="2514600"/>
            <a:ext cx="1097280" cy="292608"/>
          </a:xfrm>
          <a:prstGeom prst="roundRect">
            <a:avLst>
              <a:gd name="adj" fmla="val 50000"/>
            </a:avLst>
          </a:prstGeom>
          <a:solidFill>
            <a:srgbClr val="FDEBD9"/>
          </a:solidFill>
          <a:ln/>
        </p:spPr>
      </p:sp>
      <p:sp>
        <p:nvSpPr>
          <p:cNvPr id="47" name="Text 42"/>
          <p:cNvSpPr txBox="1"/>
          <p:nvPr/>
        </p:nvSpPr>
        <p:spPr>
          <a:xfrm>
            <a:off x="6309360" y="2514600"/>
            <a:ext cx="1097280" cy="292608"/>
          </a:xfrm>
          <a:prstGeom prst="rect">
            <a:avLst/>
          </a:prstGeom>
          <a:noFill/>
          <a:ln/>
        </p:spPr>
        <p:txBody>
          <a:bodyPr wrap="square" lIns="0" tIns="0" rIns="0" bIns="0" rtlCol="0" anchor="ctr"/>
          <a:lstStyle/>
          <a:p>
            <a:pPr algn="ctr" indent="0" marL="0">
              <a:buNone/>
            </a:pPr>
            <a:r>
              <a:rPr lang="en-US" sz="1050" dirty="0">
                <a:solidFill>
                  <a:srgbClr val="9A3412"/>
                </a:solidFill>
                <a:latin typeface="Calibri" pitchFamily="34" charset="0"/>
                <a:ea typeface="Calibri" pitchFamily="34" charset="-122"/>
                <a:cs typeface="Calibri" pitchFamily="34" charset="-120"/>
              </a:rPr>
              <a:t>noise</a:t>
            </a:r>
            <a:endParaRPr lang="en-US" sz="1050" dirty="0"/>
          </a:p>
        </p:txBody>
      </p:sp>
      <p:sp>
        <p:nvSpPr>
          <p:cNvPr id="48" name="Shape 43"/>
          <p:cNvSpPr/>
          <p:nvPr/>
        </p:nvSpPr>
        <p:spPr>
          <a:xfrm>
            <a:off x="7470648" y="2514600"/>
            <a:ext cx="1097280" cy="292608"/>
          </a:xfrm>
          <a:prstGeom prst="roundRect">
            <a:avLst>
              <a:gd name="adj" fmla="val 50000"/>
            </a:avLst>
          </a:prstGeom>
          <a:solidFill>
            <a:srgbClr val="FDEBD9"/>
          </a:solidFill>
          <a:ln/>
        </p:spPr>
      </p:sp>
      <p:sp>
        <p:nvSpPr>
          <p:cNvPr id="49" name="Text 44"/>
          <p:cNvSpPr txBox="1"/>
          <p:nvPr/>
        </p:nvSpPr>
        <p:spPr>
          <a:xfrm>
            <a:off x="7470648" y="2514600"/>
            <a:ext cx="1097280" cy="292608"/>
          </a:xfrm>
          <a:prstGeom prst="rect">
            <a:avLst/>
          </a:prstGeom>
          <a:noFill/>
          <a:ln/>
        </p:spPr>
        <p:txBody>
          <a:bodyPr wrap="square" lIns="0" tIns="0" rIns="0" bIns="0" rtlCol="0" anchor="ctr"/>
          <a:lstStyle/>
          <a:p>
            <a:pPr algn="ctr" indent="0" marL="0">
              <a:buNone/>
            </a:pPr>
            <a:r>
              <a:rPr lang="en-US" sz="1050" dirty="0">
                <a:solidFill>
                  <a:srgbClr val="9A3412"/>
                </a:solidFill>
                <a:latin typeface="Calibri" pitchFamily="34" charset="0"/>
                <a:ea typeface="Calibri" pitchFamily="34" charset="-122"/>
                <a:cs typeface="Calibri" pitchFamily="34" charset="-120"/>
              </a:rPr>
              <a:t>reverb</a:t>
            </a:r>
            <a:endParaRPr lang="en-US" sz="1050" dirty="0"/>
          </a:p>
        </p:txBody>
      </p:sp>
      <p:sp>
        <p:nvSpPr>
          <p:cNvPr id="50" name="Shape 45"/>
          <p:cNvSpPr/>
          <p:nvPr/>
        </p:nvSpPr>
        <p:spPr>
          <a:xfrm>
            <a:off x="6309360" y="2898648"/>
            <a:ext cx="1097280" cy="292608"/>
          </a:xfrm>
          <a:prstGeom prst="roundRect">
            <a:avLst>
              <a:gd name="adj" fmla="val 50000"/>
            </a:avLst>
          </a:prstGeom>
          <a:solidFill>
            <a:srgbClr val="FDEBD9"/>
          </a:solidFill>
          <a:ln/>
        </p:spPr>
      </p:sp>
      <p:sp>
        <p:nvSpPr>
          <p:cNvPr id="51" name="Text 46"/>
          <p:cNvSpPr txBox="1"/>
          <p:nvPr/>
        </p:nvSpPr>
        <p:spPr>
          <a:xfrm>
            <a:off x="6309360" y="2898648"/>
            <a:ext cx="1097280" cy="292608"/>
          </a:xfrm>
          <a:prstGeom prst="rect">
            <a:avLst/>
          </a:prstGeom>
          <a:noFill/>
          <a:ln/>
        </p:spPr>
        <p:txBody>
          <a:bodyPr wrap="square" lIns="0" tIns="0" rIns="0" bIns="0" rtlCol="0" anchor="ctr"/>
          <a:lstStyle/>
          <a:p>
            <a:pPr algn="ctr" indent="0" marL="0">
              <a:buNone/>
            </a:pPr>
            <a:r>
              <a:rPr lang="en-US" sz="1050" dirty="0">
                <a:solidFill>
                  <a:srgbClr val="9A3412"/>
                </a:solidFill>
                <a:latin typeface="Calibri" pitchFamily="34" charset="0"/>
                <a:ea typeface="Calibri" pitchFamily="34" charset="-122"/>
                <a:cs typeface="Calibri" pitchFamily="34" charset="-120"/>
              </a:rPr>
              <a:t>speed</a:t>
            </a:r>
            <a:endParaRPr lang="en-US" sz="1050" dirty="0"/>
          </a:p>
        </p:txBody>
      </p:sp>
      <p:sp>
        <p:nvSpPr>
          <p:cNvPr id="52" name="Shape 47"/>
          <p:cNvSpPr/>
          <p:nvPr/>
        </p:nvSpPr>
        <p:spPr>
          <a:xfrm>
            <a:off x="7470648" y="2898648"/>
            <a:ext cx="1097280" cy="292608"/>
          </a:xfrm>
          <a:prstGeom prst="roundRect">
            <a:avLst>
              <a:gd name="adj" fmla="val 50000"/>
            </a:avLst>
          </a:prstGeom>
          <a:solidFill>
            <a:srgbClr val="FDEBD9"/>
          </a:solidFill>
          <a:ln/>
        </p:spPr>
      </p:sp>
      <p:sp>
        <p:nvSpPr>
          <p:cNvPr id="53" name="Text 48"/>
          <p:cNvSpPr txBox="1"/>
          <p:nvPr/>
        </p:nvSpPr>
        <p:spPr>
          <a:xfrm>
            <a:off x="7470648" y="2898648"/>
            <a:ext cx="1097280" cy="292608"/>
          </a:xfrm>
          <a:prstGeom prst="rect">
            <a:avLst/>
          </a:prstGeom>
          <a:noFill/>
          <a:ln/>
        </p:spPr>
        <p:txBody>
          <a:bodyPr wrap="square" lIns="0" tIns="0" rIns="0" bIns="0" rtlCol="0" anchor="ctr"/>
          <a:lstStyle/>
          <a:p>
            <a:pPr algn="ctr" indent="0" marL="0">
              <a:buNone/>
            </a:pPr>
            <a:r>
              <a:rPr lang="en-US" sz="1050" dirty="0">
                <a:solidFill>
                  <a:srgbClr val="9A3412"/>
                </a:solidFill>
                <a:latin typeface="Calibri" pitchFamily="34" charset="0"/>
                <a:ea typeface="Calibri" pitchFamily="34" charset="-122"/>
                <a:cs typeface="Calibri" pitchFamily="34" charset="-120"/>
              </a:rPr>
              <a:t>volume</a:t>
            </a:r>
            <a:endParaRPr lang="en-US" sz="1050" dirty="0"/>
          </a:p>
        </p:txBody>
      </p:sp>
      <p:sp>
        <p:nvSpPr>
          <p:cNvPr id="54" name="Shape 49"/>
          <p:cNvSpPr/>
          <p:nvPr/>
        </p:nvSpPr>
        <p:spPr>
          <a:xfrm>
            <a:off x="6309360" y="3282696"/>
            <a:ext cx="1097280" cy="292608"/>
          </a:xfrm>
          <a:prstGeom prst="roundRect">
            <a:avLst>
              <a:gd name="adj" fmla="val 50000"/>
            </a:avLst>
          </a:prstGeom>
          <a:solidFill>
            <a:srgbClr val="FDEBD9"/>
          </a:solidFill>
          <a:ln/>
        </p:spPr>
      </p:sp>
      <p:sp>
        <p:nvSpPr>
          <p:cNvPr id="55" name="Text 50"/>
          <p:cNvSpPr txBox="1"/>
          <p:nvPr/>
        </p:nvSpPr>
        <p:spPr>
          <a:xfrm>
            <a:off x="6309360" y="3282696"/>
            <a:ext cx="1097280" cy="292608"/>
          </a:xfrm>
          <a:prstGeom prst="rect">
            <a:avLst/>
          </a:prstGeom>
          <a:noFill/>
          <a:ln/>
        </p:spPr>
        <p:txBody>
          <a:bodyPr wrap="square" lIns="0" tIns="0" rIns="0" bIns="0" rtlCol="0" anchor="ctr"/>
          <a:lstStyle/>
          <a:p>
            <a:pPr algn="ctr" indent="0" marL="0">
              <a:buNone/>
            </a:pPr>
            <a:r>
              <a:rPr lang="en-US" sz="1050" dirty="0">
                <a:solidFill>
                  <a:srgbClr val="9A3412"/>
                </a:solidFill>
                <a:latin typeface="Calibri" pitchFamily="34" charset="0"/>
                <a:ea typeface="Calibri" pitchFamily="34" charset="-122"/>
                <a:cs typeface="Calibri" pitchFamily="34" charset="-120"/>
              </a:rPr>
              <a:t>pitch</a:t>
            </a:r>
            <a:endParaRPr lang="en-US" sz="1050" dirty="0"/>
          </a:p>
        </p:txBody>
      </p:sp>
      <p:sp>
        <p:nvSpPr>
          <p:cNvPr id="56" name="Shape 51"/>
          <p:cNvSpPr/>
          <p:nvPr/>
        </p:nvSpPr>
        <p:spPr>
          <a:xfrm>
            <a:off x="7470648" y="3282696"/>
            <a:ext cx="1097280" cy="292608"/>
          </a:xfrm>
          <a:prstGeom prst="roundRect">
            <a:avLst>
              <a:gd name="adj" fmla="val 50000"/>
            </a:avLst>
          </a:prstGeom>
          <a:solidFill>
            <a:srgbClr val="FDEBD9"/>
          </a:solidFill>
          <a:ln/>
        </p:spPr>
      </p:sp>
      <p:sp>
        <p:nvSpPr>
          <p:cNvPr id="57" name="Text 52"/>
          <p:cNvSpPr txBox="1"/>
          <p:nvPr/>
        </p:nvSpPr>
        <p:spPr>
          <a:xfrm>
            <a:off x="7470648" y="3282696"/>
            <a:ext cx="1097280" cy="292608"/>
          </a:xfrm>
          <a:prstGeom prst="rect">
            <a:avLst/>
          </a:prstGeom>
          <a:noFill/>
          <a:ln/>
        </p:spPr>
        <p:txBody>
          <a:bodyPr wrap="square" lIns="0" tIns="0" rIns="0" bIns="0" rtlCol="0" anchor="ctr"/>
          <a:lstStyle/>
          <a:p>
            <a:pPr algn="ctr" indent="0" marL="0">
              <a:buNone/>
            </a:pPr>
            <a:r>
              <a:rPr lang="en-US" sz="1050" dirty="0">
                <a:solidFill>
                  <a:srgbClr val="9A3412"/>
                </a:solidFill>
                <a:latin typeface="Calibri" pitchFamily="34" charset="0"/>
                <a:ea typeface="Calibri" pitchFamily="34" charset="-122"/>
                <a:cs typeface="Calibri" pitchFamily="34" charset="-120"/>
              </a:rPr>
              <a:t>time masking</a:t>
            </a:r>
            <a:endParaRPr lang="en-US" sz="1050" dirty="0"/>
          </a:p>
        </p:txBody>
      </p:sp>
      <p:sp>
        <p:nvSpPr>
          <p:cNvPr id="58" name="Text 53"/>
          <p:cNvSpPr txBox="1"/>
          <p:nvPr/>
        </p:nvSpPr>
        <p:spPr>
          <a:xfrm>
            <a:off x="6309360" y="3749040"/>
            <a:ext cx="2194560" cy="502920"/>
          </a:xfrm>
          <a:prstGeom prst="rect">
            <a:avLst/>
          </a:prstGeom>
          <a:noFill/>
          <a:ln/>
        </p:spPr>
        <p:txBody>
          <a:bodyPr wrap="square" lIns="0" tIns="0" rIns="0" bIns="0" rtlCol="0" anchor="t"/>
          <a:lstStyle/>
          <a:p>
            <a:pPr indent="0" marL="0">
              <a:buNone/>
            </a:pPr>
            <a:r>
              <a:rPr lang="en-US" sz="1100" i="1" dirty="0">
                <a:solidFill>
                  <a:srgbClr val="5F5B78"/>
                </a:solidFill>
                <a:latin typeface="Calibri" pitchFamily="34" charset="0"/>
                <a:ea typeface="Calibri" pitchFamily="34" charset="-122"/>
                <a:cs typeface="Calibri" pitchFamily="34" charset="-120"/>
              </a:rPr>
              <a:t>Plus SpecAugment masking inside the encoder during training.</a:t>
            </a:r>
            <a:endParaRPr lang="en-US" sz="1100" dirty="0"/>
          </a:p>
        </p:txBody>
      </p:sp>
      <p:sp>
        <p:nvSpPr>
          <p:cNvPr id="59" name="Text 54"/>
          <p:cNvSpPr txBox="1"/>
          <p:nvPr/>
        </p:nvSpPr>
        <p:spPr>
          <a:xfrm>
            <a:off x="457200" y="4526280"/>
            <a:ext cx="7589520" cy="228600"/>
          </a:xfrm>
          <a:prstGeom prst="rect">
            <a:avLst/>
          </a:prstGeom>
          <a:noFill/>
          <a:ln/>
        </p:spPr>
        <p:txBody>
          <a:bodyPr wrap="square" lIns="0" tIns="0" rIns="0" bIns="0" rtlCol="0" anchor="ctr"/>
          <a:lstStyle/>
          <a:p>
            <a:pPr indent="0" marL="0">
              <a:buNone/>
            </a:pPr>
            <a:r>
              <a:rPr lang="en-US" sz="1050" dirty="0">
                <a:solidFill>
                  <a:srgbClr val="5F5B78"/>
                </a:solidFill>
                <a:latin typeface="Calibri" pitchFamily="34" charset="0"/>
                <a:ea typeface="Calibri" pitchFamily="34" charset="-122"/>
                <a:cs typeface="Calibri" pitchFamily="34" charset="-120"/>
              </a:rPr>
              <a:t>Noise, silence and transcript-mismatch checks are frame-energy heuristics, reported as estimates.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685800"/>
          </a:xfrm>
          <a:prstGeom prst="rect">
            <a:avLst/>
          </a:prstGeom>
          <a:noFill/>
          <a:ln/>
        </p:spPr>
        <p:txBody>
          <a:bodyPr wrap="square" lIns="0" tIns="0" rIns="0" bIns="0" rtlCol="0" anchor="ctr"/>
          <a:lstStyle/>
          <a:p>
            <a:pPr indent="0" marL="0">
              <a:buNone/>
            </a:pPr>
            <a:r>
              <a:rPr lang="en-US" sz="3000" b="1" dirty="0">
                <a:solidFill>
                  <a:srgbClr val="15112B"/>
                </a:solidFill>
                <a:latin typeface="Cambria" pitchFamily="34" charset="0"/>
                <a:ea typeface="Cambria" pitchFamily="34" charset="-122"/>
                <a:cs typeface="Cambria" pitchFamily="34" charset="-120"/>
              </a:rPr>
              <a:t>Choosing a fine-tuning method</a:t>
            </a:r>
            <a:endParaRPr lang="en-US" sz="3000" dirty="0"/>
          </a:p>
        </p:txBody>
      </p:sp>
      <p:sp>
        <p:nvSpPr>
          <p:cNvPr id="3" name="Shape 1"/>
          <p:cNvSpPr/>
          <p:nvPr/>
        </p:nvSpPr>
        <p:spPr>
          <a:xfrm>
            <a:off x="8001000" y="534924"/>
            <a:ext cx="64008" cy="164592"/>
          </a:xfrm>
          <a:prstGeom prst="roundRect">
            <a:avLst>
              <a:gd name="adj" fmla="val 50000"/>
            </a:avLst>
          </a:prstGeom>
          <a:solidFill>
            <a:srgbClr val="0E8A77"/>
          </a:solidFill>
          <a:ln/>
        </p:spPr>
      </p:sp>
      <p:sp>
        <p:nvSpPr>
          <p:cNvPr id="4" name="Shape 2"/>
          <p:cNvSpPr/>
          <p:nvPr/>
        </p:nvSpPr>
        <p:spPr>
          <a:xfrm>
            <a:off x="8110728" y="452628"/>
            <a:ext cx="64008" cy="329184"/>
          </a:xfrm>
          <a:prstGeom prst="roundRect">
            <a:avLst>
              <a:gd name="adj" fmla="val 50000"/>
            </a:avLst>
          </a:prstGeom>
          <a:solidFill>
            <a:srgbClr val="F5A524"/>
          </a:solidFill>
          <a:ln/>
        </p:spPr>
      </p:sp>
      <p:sp>
        <p:nvSpPr>
          <p:cNvPr id="5" name="Shape 3"/>
          <p:cNvSpPr/>
          <p:nvPr/>
        </p:nvSpPr>
        <p:spPr>
          <a:xfrm>
            <a:off x="8220456" y="411480"/>
            <a:ext cx="64008" cy="411480"/>
          </a:xfrm>
          <a:prstGeom prst="roundRect">
            <a:avLst>
              <a:gd name="adj" fmla="val 50000"/>
            </a:avLst>
          </a:prstGeom>
          <a:solidFill>
            <a:srgbClr val="0E8A77"/>
          </a:solidFill>
          <a:ln/>
        </p:spPr>
      </p:sp>
      <p:sp>
        <p:nvSpPr>
          <p:cNvPr id="6" name="Shape 4"/>
          <p:cNvSpPr/>
          <p:nvPr/>
        </p:nvSpPr>
        <p:spPr>
          <a:xfrm>
            <a:off x="8330184" y="493776"/>
            <a:ext cx="64008" cy="246888"/>
          </a:xfrm>
          <a:prstGeom prst="roundRect">
            <a:avLst>
              <a:gd name="adj" fmla="val 50000"/>
            </a:avLst>
          </a:prstGeom>
          <a:solidFill>
            <a:srgbClr val="F5A524"/>
          </a:solidFill>
          <a:ln/>
        </p:spPr>
      </p:sp>
      <p:sp>
        <p:nvSpPr>
          <p:cNvPr id="7" name="Shape 5"/>
          <p:cNvSpPr/>
          <p:nvPr/>
        </p:nvSpPr>
        <p:spPr>
          <a:xfrm>
            <a:off x="8439912" y="555498"/>
            <a:ext cx="64008" cy="123444"/>
          </a:xfrm>
          <a:prstGeom prst="roundRect">
            <a:avLst>
              <a:gd name="adj" fmla="val 50000"/>
            </a:avLst>
          </a:prstGeom>
          <a:solidFill>
            <a:srgbClr val="0E8A77"/>
          </a:solidFill>
          <a:ln/>
        </p:spPr>
      </p:sp>
      <p:sp>
        <p:nvSpPr>
          <p:cNvPr id="8" name="Text 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F5B78"/>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463040"/>
                <a:gridCol w="2926080"/>
                <a:gridCol w="2377440"/>
                <a:gridCol w="685800"/>
                <a:gridCol w="777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gets trained</a:t>
                      </a:r>
                      <a:endParaRPr lang="en-US" sz="120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GPU</a:t>
                      </a:r>
                      <a:endParaRPr lang="en-US" sz="120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r>
              <a:tr h="457200">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Full fine-tuning</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Every weight; optional frozen encoder, layer-wise LR decay</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30 h+ of data or a big domain shift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STT · TTS</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LoRA</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Low-rank matrices on attention / FFN, base frozen (DoRA, rsLoRA, LoRA+, PiSSA)</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Small-to-medium data, limited GPU</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0E8A77"/>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STT · TTS</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r>
              <a:tr h="384048">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QLoRA</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LoRA on a 4-bit NF4 base model</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Models that barely fit in memory</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0B5E50"/>
                          </a:solidFill>
                          <a:latin typeface="Calibri" pitchFamily="34" charset="0"/>
                          <a:ea typeface="Calibri" pitchFamily="34" charset="-122"/>
                          <a:cs typeface="Calibri" pitchFamily="34" charset="-120"/>
                        </a:rPr>
                        <a:t>Lowest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AdaLoRA</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LoRA with rank re-allocated across layers by importance</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Unsure which layers need capacity</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0E8A77"/>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r>
              <a:tr h="384048">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Adapter (IA³)</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Learned scaling vectors, about 0.01% of weights</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Tiny data, per-customer adapters</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0B5E50"/>
                          </a:solidFill>
                          <a:latin typeface="Calibri" pitchFamily="34" charset="0"/>
                          <a:ea typeface="Calibri" pitchFamily="34" charset="-122"/>
                          <a:cs typeface="Calibri" pitchFamily="34" charset="-120"/>
                        </a:rPr>
                        <a:t>Lowest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Domain adaptation</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LoRA + oversampling and 2× loss on your domain terms</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Medical, legal, product vocabulary</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0E8A77"/>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r>
              <a:tr h="384048">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Speaker adaptation</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Decoder, prenets, postnet; text encoder frozen</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Voice cloning from one small speaker set</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5F5B78"/>
                          </a:solidFill>
                          <a:latin typeface="Calibri" pitchFamily="34" charset="0"/>
                          <a:ea typeface="Calibri" pitchFamily="34" charset="-122"/>
                          <a:cs typeface="Calibri" pitchFamily="34" charset="-120"/>
                        </a:rPr>
                        <a:t>TTS</a:t>
                      </a:r>
                      <a:endParaRPr lang="en-US" sz="1150" dirty="0">
                        <a:latin typeface="Calibri" charset="0"/>
                        <a:ea typeface="Calibri" charset="0"/>
                        <a:cs typeface="Calibri" charset="0"/>
                      </a:endParaRPr>
                    </a:p>
                  </a:txBody>
                  <a:tcPr marL="76200" marR="76200" marT="38100" marB="381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457200" y="4526280"/>
            <a:ext cx="7589520" cy="228600"/>
          </a:xfrm>
          <a:prstGeom prst="rect">
            <a:avLst/>
          </a:prstGeom>
          <a:noFill/>
          <a:ln/>
        </p:spPr>
        <p:txBody>
          <a:bodyPr wrap="square" lIns="0" tIns="0" rIns="0" bIns="0" rtlCol="0" anchor="ctr"/>
          <a:lstStyle/>
          <a:p>
            <a:pPr indent="0" marL="0">
              <a:buNone/>
            </a:pPr>
            <a:r>
              <a:rPr lang="en-US" sz="1050" dirty="0">
                <a:solidFill>
                  <a:srgbClr val="5F5B78"/>
                </a:solidFill>
                <a:latin typeface="Calibri" pitchFamily="34" charset="0"/>
                <a:ea typeface="Calibri" pitchFamily="34" charset="-122"/>
                <a:cs typeface="Calibri" pitchFamily="34" charset="-120"/>
              </a:rPr>
              <a:t>GPU = relative memory need. Only methods with real training code are offered; the rest show as unsupported with a reason.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685800"/>
          </a:xfrm>
          <a:prstGeom prst="rect">
            <a:avLst/>
          </a:prstGeom>
          <a:noFill/>
          <a:ln/>
        </p:spPr>
        <p:txBody>
          <a:bodyPr wrap="square" lIns="0" tIns="0" rIns="0" bIns="0" rtlCol="0" anchor="ctr"/>
          <a:lstStyle/>
          <a:p>
            <a:pPr indent="0" marL="0">
              <a:buNone/>
            </a:pPr>
            <a:r>
              <a:rPr lang="en-US" sz="3000" b="1" dirty="0">
                <a:solidFill>
                  <a:srgbClr val="15112B"/>
                </a:solidFill>
                <a:latin typeface="Cambria" pitchFamily="34" charset="0"/>
                <a:ea typeface="Cambria" pitchFamily="34" charset="-122"/>
                <a:cs typeface="Cambria" pitchFamily="34" charset="-120"/>
              </a:rPr>
              <a:t>Training engine: tuned, not guessed</a:t>
            </a:r>
            <a:endParaRPr lang="en-US" sz="3000" dirty="0"/>
          </a:p>
        </p:txBody>
      </p:sp>
      <p:sp>
        <p:nvSpPr>
          <p:cNvPr id="3" name="Shape 1"/>
          <p:cNvSpPr/>
          <p:nvPr/>
        </p:nvSpPr>
        <p:spPr>
          <a:xfrm>
            <a:off x="8001000" y="534924"/>
            <a:ext cx="64008" cy="164592"/>
          </a:xfrm>
          <a:prstGeom prst="roundRect">
            <a:avLst>
              <a:gd name="adj" fmla="val 50000"/>
            </a:avLst>
          </a:prstGeom>
          <a:solidFill>
            <a:srgbClr val="0E8A77"/>
          </a:solidFill>
          <a:ln/>
        </p:spPr>
      </p:sp>
      <p:sp>
        <p:nvSpPr>
          <p:cNvPr id="4" name="Shape 2"/>
          <p:cNvSpPr/>
          <p:nvPr/>
        </p:nvSpPr>
        <p:spPr>
          <a:xfrm>
            <a:off x="8110728" y="452628"/>
            <a:ext cx="64008" cy="329184"/>
          </a:xfrm>
          <a:prstGeom prst="roundRect">
            <a:avLst>
              <a:gd name="adj" fmla="val 50000"/>
            </a:avLst>
          </a:prstGeom>
          <a:solidFill>
            <a:srgbClr val="F5A524"/>
          </a:solidFill>
          <a:ln/>
        </p:spPr>
      </p:sp>
      <p:sp>
        <p:nvSpPr>
          <p:cNvPr id="5" name="Shape 3"/>
          <p:cNvSpPr/>
          <p:nvPr/>
        </p:nvSpPr>
        <p:spPr>
          <a:xfrm>
            <a:off x="8220456" y="411480"/>
            <a:ext cx="64008" cy="411480"/>
          </a:xfrm>
          <a:prstGeom prst="roundRect">
            <a:avLst>
              <a:gd name="adj" fmla="val 50000"/>
            </a:avLst>
          </a:prstGeom>
          <a:solidFill>
            <a:srgbClr val="0E8A77"/>
          </a:solidFill>
          <a:ln/>
        </p:spPr>
      </p:sp>
      <p:sp>
        <p:nvSpPr>
          <p:cNvPr id="6" name="Shape 4"/>
          <p:cNvSpPr/>
          <p:nvPr/>
        </p:nvSpPr>
        <p:spPr>
          <a:xfrm>
            <a:off x="8330184" y="493776"/>
            <a:ext cx="64008" cy="246888"/>
          </a:xfrm>
          <a:prstGeom prst="roundRect">
            <a:avLst>
              <a:gd name="adj" fmla="val 50000"/>
            </a:avLst>
          </a:prstGeom>
          <a:solidFill>
            <a:srgbClr val="F5A524"/>
          </a:solidFill>
          <a:ln/>
        </p:spPr>
      </p:sp>
      <p:sp>
        <p:nvSpPr>
          <p:cNvPr id="7" name="Shape 5"/>
          <p:cNvSpPr/>
          <p:nvPr/>
        </p:nvSpPr>
        <p:spPr>
          <a:xfrm>
            <a:off x="8439912" y="555498"/>
            <a:ext cx="64008" cy="123444"/>
          </a:xfrm>
          <a:prstGeom prst="roundRect">
            <a:avLst>
              <a:gd name="adj" fmla="val 50000"/>
            </a:avLst>
          </a:prstGeom>
          <a:solidFill>
            <a:srgbClr val="0E8A77"/>
          </a:solidFill>
          <a:ln/>
        </p:spPr>
      </p:sp>
      <p:sp>
        <p:nvSpPr>
          <p:cNvPr id="8" name="Text 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F5B78"/>
                </a:solidFill>
                <a:latin typeface="Calibri" pitchFamily="34" charset="0"/>
                <a:ea typeface="Calibri" pitchFamily="34" charset="-122"/>
                <a:cs typeface="Calibri" pitchFamily="34" charset="-120"/>
              </a:rPr>
              <a:t>5</a:t>
            </a:r>
            <a:endParaRPr lang="en-US" sz="1000" dirty="0"/>
          </a:p>
        </p:txBody>
      </p:sp>
      <p:sp>
        <p:nvSpPr>
          <p:cNvPr id="9" name="Shape 7"/>
          <p:cNvSpPr/>
          <p:nvPr/>
        </p:nvSpPr>
        <p:spPr>
          <a:xfrm>
            <a:off x="457200" y="1143000"/>
            <a:ext cx="5029200" cy="457200"/>
          </a:xfrm>
          <a:prstGeom prst="roundRect">
            <a:avLst>
              <a:gd name="adj" fmla="val 12000"/>
            </a:avLst>
          </a:prstGeom>
          <a:solidFill>
            <a:srgbClr val="FFFFFF"/>
          </a:solidFill>
          <a:ln w="12700">
            <a:solidFill>
              <a:srgbClr val="DAD7EA"/>
            </a:solidFill>
            <a:prstDash val="solid"/>
          </a:ln>
        </p:spPr>
      </p:sp>
      <p:sp>
        <p:nvSpPr>
          <p:cNvPr id="10" name="Text 8"/>
          <p:cNvSpPr txBox="1"/>
          <p:nvPr/>
        </p:nvSpPr>
        <p:spPr>
          <a:xfrm>
            <a:off x="594360" y="1143000"/>
            <a:ext cx="1325880" cy="457200"/>
          </a:xfrm>
          <a:prstGeom prst="rect">
            <a:avLst/>
          </a:prstGeom>
          <a:noFill/>
          <a:ln/>
        </p:spPr>
        <p:txBody>
          <a:bodyPr wrap="square" lIns="0" tIns="0" rIns="0" bIns="0" rtlCol="0" anchor="ctr"/>
          <a:lstStyle/>
          <a:p>
            <a:pPr indent="0" marL="0">
              <a:buNone/>
            </a:pPr>
            <a:r>
              <a:rPr lang="en-US" sz="1200" b="1" dirty="0">
                <a:solidFill>
                  <a:srgbClr val="0E8A77"/>
                </a:solidFill>
                <a:latin typeface="Calibri" pitchFamily="34" charset="0"/>
                <a:ea typeface="Calibri" pitchFamily="34" charset="-122"/>
                <a:cs typeface="Calibri" pitchFamily="34" charset="-120"/>
              </a:rPr>
              <a:t>Strategy engine</a:t>
            </a:r>
            <a:endParaRPr lang="en-US" sz="1200" dirty="0"/>
          </a:p>
        </p:txBody>
      </p:sp>
      <p:sp>
        <p:nvSpPr>
          <p:cNvPr id="11" name="Text 9"/>
          <p:cNvSpPr txBox="1"/>
          <p:nvPr/>
        </p:nvSpPr>
        <p:spPr>
          <a:xfrm>
            <a:off x="1874520" y="1143000"/>
            <a:ext cx="3520440" cy="457200"/>
          </a:xfrm>
          <a:prstGeom prst="rect">
            <a:avLst/>
          </a:prstGeom>
          <a:noFill/>
          <a:ln/>
        </p:spPr>
        <p:txBody>
          <a:bodyPr wrap="square" lIns="0" tIns="0" rIns="0" bIns="0" rtlCol="0" anchor="ctr"/>
          <a:lstStyle/>
          <a:p>
            <a:pPr indent="0" marL="0">
              <a:buNone/>
            </a:pPr>
            <a:r>
              <a:rPr lang="en-US" sz="1100" dirty="0">
                <a:solidFill>
                  <a:srgbClr val="1B1633"/>
                </a:solidFill>
                <a:latin typeface="Calibri" pitchFamily="34" charset="0"/>
                <a:ea typeface="Calibri" pitchFamily="34" charset="-122"/>
                <a:cs typeface="Calibri" pitchFamily="34" charset="-120"/>
              </a:rPr>
              <a:t>Dataset hours + goal + free VRAM → method, config and a plain-language “why”</a:t>
            </a:r>
            <a:endParaRPr lang="en-US" sz="1100" dirty="0"/>
          </a:p>
        </p:txBody>
      </p:sp>
      <p:sp>
        <p:nvSpPr>
          <p:cNvPr id="12" name="Shape 10"/>
          <p:cNvSpPr/>
          <p:nvPr/>
        </p:nvSpPr>
        <p:spPr>
          <a:xfrm>
            <a:off x="457200" y="1673352"/>
            <a:ext cx="5029200" cy="457200"/>
          </a:xfrm>
          <a:prstGeom prst="roundRect">
            <a:avLst>
              <a:gd name="adj" fmla="val 12000"/>
            </a:avLst>
          </a:prstGeom>
          <a:solidFill>
            <a:srgbClr val="FFFFFF"/>
          </a:solidFill>
          <a:ln w="12700">
            <a:solidFill>
              <a:srgbClr val="DAD7EA"/>
            </a:solidFill>
            <a:prstDash val="solid"/>
          </a:ln>
        </p:spPr>
      </p:sp>
      <p:sp>
        <p:nvSpPr>
          <p:cNvPr id="13" name="Text 11"/>
          <p:cNvSpPr txBox="1"/>
          <p:nvPr/>
        </p:nvSpPr>
        <p:spPr>
          <a:xfrm>
            <a:off x="594360" y="1673352"/>
            <a:ext cx="1325880" cy="457200"/>
          </a:xfrm>
          <a:prstGeom prst="rect">
            <a:avLst/>
          </a:prstGeom>
          <a:noFill/>
          <a:ln/>
        </p:spPr>
        <p:txBody>
          <a:bodyPr wrap="square" lIns="0" tIns="0" rIns="0" bIns="0" rtlCol="0" anchor="ctr"/>
          <a:lstStyle/>
          <a:p>
            <a:pPr indent="0" marL="0">
              <a:buNone/>
            </a:pPr>
            <a:r>
              <a:rPr lang="en-US" sz="1200" b="1" dirty="0">
                <a:solidFill>
                  <a:srgbClr val="0E8A77"/>
                </a:solidFill>
                <a:latin typeface="Calibri" pitchFamily="34" charset="0"/>
                <a:ea typeface="Calibri" pitchFamily="34" charset="-122"/>
                <a:cs typeface="Calibri" pitchFamily="34" charset="-120"/>
              </a:rPr>
              <a:t>Learning rate</a:t>
            </a:r>
            <a:endParaRPr lang="en-US" sz="1200" dirty="0"/>
          </a:p>
        </p:txBody>
      </p:sp>
      <p:sp>
        <p:nvSpPr>
          <p:cNvPr id="14" name="Text 12"/>
          <p:cNvSpPr txBox="1"/>
          <p:nvPr/>
        </p:nvSpPr>
        <p:spPr>
          <a:xfrm>
            <a:off x="1874520" y="1673352"/>
            <a:ext cx="3520440" cy="457200"/>
          </a:xfrm>
          <a:prstGeom prst="rect">
            <a:avLst/>
          </a:prstGeom>
          <a:noFill/>
          <a:ln/>
        </p:spPr>
        <p:txBody>
          <a:bodyPr wrap="square" lIns="0" tIns="0" rIns="0" bIns="0" rtlCol="0" anchor="ctr"/>
          <a:lstStyle/>
          <a:p>
            <a:pPr indent="0" marL="0">
              <a:buNone/>
            </a:pPr>
            <a:r>
              <a:rPr lang="en-US" sz="1100" dirty="0">
                <a:solidFill>
                  <a:srgbClr val="1B1633"/>
                </a:solidFill>
                <a:latin typeface="Calibri" pitchFamily="34" charset="0"/>
                <a:ea typeface="Calibri" pitchFamily="34" charset="-122"/>
                <a:cs typeface="Calibri" pitchFamily="34" charset="-120"/>
              </a:rPr>
              <a:t>Auto LR range test on your own batches; cosine decay with warmup</a:t>
            </a:r>
            <a:endParaRPr lang="en-US" sz="1100" dirty="0"/>
          </a:p>
        </p:txBody>
      </p:sp>
      <p:sp>
        <p:nvSpPr>
          <p:cNvPr id="15" name="Shape 13"/>
          <p:cNvSpPr/>
          <p:nvPr/>
        </p:nvSpPr>
        <p:spPr>
          <a:xfrm>
            <a:off x="457200" y="2203704"/>
            <a:ext cx="5029200" cy="457200"/>
          </a:xfrm>
          <a:prstGeom prst="roundRect">
            <a:avLst>
              <a:gd name="adj" fmla="val 12000"/>
            </a:avLst>
          </a:prstGeom>
          <a:solidFill>
            <a:srgbClr val="FFFFFF"/>
          </a:solidFill>
          <a:ln w="12700">
            <a:solidFill>
              <a:srgbClr val="DAD7EA"/>
            </a:solidFill>
            <a:prstDash val="solid"/>
          </a:ln>
        </p:spPr>
      </p:sp>
      <p:sp>
        <p:nvSpPr>
          <p:cNvPr id="16" name="Text 14"/>
          <p:cNvSpPr txBox="1"/>
          <p:nvPr/>
        </p:nvSpPr>
        <p:spPr>
          <a:xfrm>
            <a:off x="594360" y="2203704"/>
            <a:ext cx="1325880" cy="457200"/>
          </a:xfrm>
          <a:prstGeom prst="rect">
            <a:avLst/>
          </a:prstGeom>
          <a:noFill/>
          <a:ln/>
        </p:spPr>
        <p:txBody>
          <a:bodyPr wrap="square" lIns="0" tIns="0" rIns="0" bIns="0" rtlCol="0" anchor="ctr"/>
          <a:lstStyle/>
          <a:p>
            <a:pPr indent="0" marL="0">
              <a:buNone/>
            </a:pPr>
            <a:r>
              <a:rPr lang="en-US" sz="1200" b="1" dirty="0">
                <a:solidFill>
                  <a:srgbClr val="0E8A77"/>
                </a:solidFill>
                <a:latin typeface="Calibri" pitchFamily="34" charset="0"/>
                <a:ea typeface="Calibri" pitchFamily="34" charset="-122"/>
                <a:cs typeface="Calibri" pitchFamily="34" charset="-120"/>
              </a:rPr>
              <a:t>Adapter variants</a:t>
            </a:r>
            <a:endParaRPr lang="en-US" sz="1200" dirty="0"/>
          </a:p>
        </p:txBody>
      </p:sp>
      <p:sp>
        <p:nvSpPr>
          <p:cNvPr id="17" name="Text 15"/>
          <p:cNvSpPr txBox="1"/>
          <p:nvPr/>
        </p:nvSpPr>
        <p:spPr>
          <a:xfrm>
            <a:off x="1874520" y="2203704"/>
            <a:ext cx="3520440" cy="457200"/>
          </a:xfrm>
          <a:prstGeom prst="rect">
            <a:avLst/>
          </a:prstGeom>
          <a:noFill/>
          <a:ln/>
        </p:spPr>
        <p:txBody>
          <a:bodyPr wrap="square" lIns="0" tIns="0" rIns="0" bIns="0" rtlCol="0" anchor="ctr"/>
          <a:lstStyle/>
          <a:p>
            <a:pPr indent="0" marL="0">
              <a:buNone/>
            </a:pPr>
            <a:r>
              <a:rPr lang="en-US" sz="1100" dirty="0">
                <a:solidFill>
                  <a:srgbClr val="1B1633"/>
                </a:solidFill>
                <a:latin typeface="Calibri" pitchFamily="34" charset="0"/>
                <a:ea typeface="Calibri" pitchFamily="34" charset="-122"/>
                <a:cs typeface="Calibri" pitchFamily="34" charset="-120"/>
              </a:rPr>
              <a:t>DoRA · rsLoRA · LoRA+ · PiSSA / OLoRA init · AdaLoRA</a:t>
            </a:r>
            <a:endParaRPr lang="en-US" sz="1100" dirty="0"/>
          </a:p>
        </p:txBody>
      </p:sp>
      <p:sp>
        <p:nvSpPr>
          <p:cNvPr id="18" name="Shape 16"/>
          <p:cNvSpPr/>
          <p:nvPr/>
        </p:nvSpPr>
        <p:spPr>
          <a:xfrm>
            <a:off x="457200" y="2734056"/>
            <a:ext cx="5029200" cy="457200"/>
          </a:xfrm>
          <a:prstGeom prst="roundRect">
            <a:avLst>
              <a:gd name="adj" fmla="val 12000"/>
            </a:avLst>
          </a:prstGeom>
          <a:solidFill>
            <a:srgbClr val="FFFFFF"/>
          </a:solidFill>
          <a:ln w="12700">
            <a:solidFill>
              <a:srgbClr val="DAD7EA"/>
            </a:solidFill>
            <a:prstDash val="solid"/>
          </a:ln>
        </p:spPr>
      </p:sp>
      <p:sp>
        <p:nvSpPr>
          <p:cNvPr id="19" name="Text 17"/>
          <p:cNvSpPr txBox="1"/>
          <p:nvPr/>
        </p:nvSpPr>
        <p:spPr>
          <a:xfrm>
            <a:off x="594360" y="2734056"/>
            <a:ext cx="1325880" cy="457200"/>
          </a:xfrm>
          <a:prstGeom prst="rect">
            <a:avLst/>
          </a:prstGeom>
          <a:noFill/>
          <a:ln/>
        </p:spPr>
        <p:txBody>
          <a:bodyPr wrap="square" lIns="0" tIns="0" rIns="0" bIns="0" rtlCol="0" anchor="ctr"/>
          <a:lstStyle/>
          <a:p>
            <a:pPr indent="0" marL="0">
              <a:buNone/>
            </a:pPr>
            <a:r>
              <a:rPr lang="en-US" sz="1200" b="1" dirty="0">
                <a:solidFill>
                  <a:srgbClr val="0E8A77"/>
                </a:solidFill>
                <a:latin typeface="Calibri" pitchFamily="34" charset="0"/>
                <a:ea typeface="Calibri" pitchFamily="34" charset="-122"/>
                <a:cs typeface="Calibri" pitchFamily="34" charset="-120"/>
              </a:rPr>
              <a:t>Regularization</a:t>
            </a:r>
            <a:endParaRPr lang="en-US" sz="1200" dirty="0"/>
          </a:p>
        </p:txBody>
      </p:sp>
      <p:sp>
        <p:nvSpPr>
          <p:cNvPr id="20" name="Text 18"/>
          <p:cNvSpPr txBox="1"/>
          <p:nvPr/>
        </p:nvSpPr>
        <p:spPr>
          <a:xfrm>
            <a:off x="1874520" y="2734056"/>
            <a:ext cx="3520440" cy="457200"/>
          </a:xfrm>
          <a:prstGeom prst="rect">
            <a:avLst/>
          </a:prstGeom>
          <a:noFill/>
          <a:ln/>
        </p:spPr>
        <p:txBody>
          <a:bodyPr wrap="square" lIns="0" tIns="0" rIns="0" bIns="0" rtlCol="0" anchor="ctr"/>
          <a:lstStyle/>
          <a:p>
            <a:pPr indent="0" marL="0">
              <a:buNone/>
            </a:pPr>
            <a:r>
              <a:rPr lang="en-US" sz="1100" dirty="0">
                <a:solidFill>
                  <a:srgbClr val="1B1633"/>
                </a:solidFill>
                <a:latin typeface="Calibri" pitchFamily="34" charset="0"/>
                <a:ea typeface="Calibri" pitchFamily="34" charset="-122"/>
                <a:cs typeface="Calibri" pitchFamily="34" charset="-120"/>
              </a:rPr>
              <a:t>SpecAugment · EMA of weights (0.999) · label smoothing · layer-wise LR decay</a:t>
            </a:r>
            <a:endParaRPr lang="en-US" sz="1100" dirty="0"/>
          </a:p>
        </p:txBody>
      </p:sp>
      <p:sp>
        <p:nvSpPr>
          <p:cNvPr id="21" name="Shape 19"/>
          <p:cNvSpPr/>
          <p:nvPr/>
        </p:nvSpPr>
        <p:spPr>
          <a:xfrm>
            <a:off x="457200" y="3264408"/>
            <a:ext cx="5029200" cy="457200"/>
          </a:xfrm>
          <a:prstGeom prst="roundRect">
            <a:avLst>
              <a:gd name="adj" fmla="val 12000"/>
            </a:avLst>
          </a:prstGeom>
          <a:solidFill>
            <a:srgbClr val="FFFFFF"/>
          </a:solidFill>
          <a:ln w="12700">
            <a:solidFill>
              <a:srgbClr val="DAD7EA"/>
            </a:solidFill>
            <a:prstDash val="solid"/>
          </a:ln>
        </p:spPr>
      </p:sp>
      <p:sp>
        <p:nvSpPr>
          <p:cNvPr id="22" name="Text 20"/>
          <p:cNvSpPr txBox="1"/>
          <p:nvPr/>
        </p:nvSpPr>
        <p:spPr>
          <a:xfrm>
            <a:off x="594360" y="3264408"/>
            <a:ext cx="1325880" cy="457200"/>
          </a:xfrm>
          <a:prstGeom prst="rect">
            <a:avLst/>
          </a:prstGeom>
          <a:noFill/>
          <a:ln/>
        </p:spPr>
        <p:txBody>
          <a:bodyPr wrap="square" lIns="0" tIns="0" rIns="0" bIns="0" rtlCol="0" anchor="ctr"/>
          <a:lstStyle/>
          <a:p>
            <a:pPr indent="0" marL="0">
              <a:buNone/>
            </a:pPr>
            <a:r>
              <a:rPr lang="en-US" sz="1200" b="1" dirty="0">
                <a:solidFill>
                  <a:srgbClr val="0E8A77"/>
                </a:solidFill>
                <a:latin typeface="Calibri" pitchFamily="34" charset="0"/>
                <a:ea typeface="Calibri" pitchFamily="34" charset="-122"/>
                <a:cs typeface="Calibri" pitchFamily="34" charset="-120"/>
              </a:rPr>
              <a:t>Domain focus</a:t>
            </a:r>
            <a:endParaRPr lang="en-US" sz="1200" dirty="0"/>
          </a:p>
        </p:txBody>
      </p:sp>
      <p:sp>
        <p:nvSpPr>
          <p:cNvPr id="23" name="Text 21"/>
          <p:cNvSpPr txBox="1"/>
          <p:nvPr/>
        </p:nvSpPr>
        <p:spPr>
          <a:xfrm>
            <a:off x="1874520" y="3264408"/>
            <a:ext cx="3520440" cy="457200"/>
          </a:xfrm>
          <a:prstGeom prst="rect">
            <a:avLst/>
          </a:prstGeom>
          <a:noFill/>
          <a:ln/>
        </p:spPr>
        <p:txBody>
          <a:bodyPr wrap="square" lIns="0" tIns="0" rIns="0" bIns="0" rtlCol="0" anchor="ctr"/>
          <a:lstStyle/>
          <a:p>
            <a:pPr indent="0" marL="0">
              <a:buNone/>
            </a:pPr>
            <a:r>
              <a:rPr lang="en-US" sz="1100" dirty="0">
                <a:solidFill>
                  <a:srgbClr val="1B1633"/>
                </a:solidFill>
                <a:latin typeface="Calibri" pitchFamily="34" charset="0"/>
                <a:ea typeface="Calibri" pitchFamily="34" charset="-122"/>
                <a:cs typeface="Calibri" pitchFamily="34" charset="-120"/>
              </a:rPr>
              <a:t>Oversample utterances with your terms; 2× loss weight on those tokens</a:t>
            </a:r>
            <a:endParaRPr lang="en-US" sz="1100" dirty="0"/>
          </a:p>
        </p:txBody>
      </p:sp>
      <p:sp>
        <p:nvSpPr>
          <p:cNvPr id="24" name="Shape 22"/>
          <p:cNvSpPr/>
          <p:nvPr/>
        </p:nvSpPr>
        <p:spPr>
          <a:xfrm>
            <a:off x="457200" y="3794760"/>
            <a:ext cx="5029200" cy="457200"/>
          </a:xfrm>
          <a:prstGeom prst="roundRect">
            <a:avLst>
              <a:gd name="adj" fmla="val 12000"/>
            </a:avLst>
          </a:prstGeom>
          <a:solidFill>
            <a:srgbClr val="FFFFFF"/>
          </a:solidFill>
          <a:ln w="12700">
            <a:solidFill>
              <a:srgbClr val="DAD7EA"/>
            </a:solidFill>
            <a:prstDash val="solid"/>
          </a:ln>
        </p:spPr>
      </p:sp>
      <p:sp>
        <p:nvSpPr>
          <p:cNvPr id="25" name="Text 23"/>
          <p:cNvSpPr txBox="1"/>
          <p:nvPr/>
        </p:nvSpPr>
        <p:spPr>
          <a:xfrm>
            <a:off x="594360" y="3794760"/>
            <a:ext cx="1325880" cy="457200"/>
          </a:xfrm>
          <a:prstGeom prst="rect">
            <a:avLst/>
          </a:prstGeom>
          <a:noFill/>
          <a:ln/>
        </p:spPr>
        <p:txBody>
          <a:bodyPr wrap="square" lIns="0" tIns="0" rIns="0" bIns="0" rtlCol="0" anchor="ctr"/>
          <a:lstStyle/>
          <a:p>
            <a:pPr indent="0" marL="0">
              <a:buNone/>
            </a:pPr>
            <a:r>
              <a:rPr lang="en-US" sz="1200" b="1" dirty="0">
                <a:solidFill>
                  <a:srgbClr val="0E8A77"/>
                </a:solidFill>
                <a:latin typeface="Calibri" pitchFamily="34" charset="0"/>
                <a:ea typeface="Calibri" pitchFamily="34" charset="-122"/>
                <a:cs typeface="Calibri" pitchFamily="34" charset="-120"/>
              </a:rPr>
              <a:t>Safety &amp; memory</a:t>
            </a:r>
            <a:endParaRPr lang="en-US" sz="1200" dirty="0"/>
          </a:p>
        </p:txBody>
      </p:sp>
      <p:sp>
        <p:nvSpPr>
          <p:cNvPr id="26" name="Text 24"/>
          <p:cNvSpPr txBox="1"/>
          <p:nvPr/>
        </p:nvSpPr>
        <p:spPr>
          <a:xfrm>
            <a:off x="1874520" y="3794760"/>
            <a:ext cx="3520440" cy="457200"/>
          </a:xfrm>
          <a:prstGeom prst="rect">
            <a:avLst/>
          </a:prstGeom>
          <a:noFill/>
          <a:ln/>
        </p:spPr>
        <p:txBody>
          <a:bodyPr wrap="square" lIns="0" tIns="0" rIns="0" bIns="0" rtlCol="0" anchor="ctr"/>
          <a:lstStyle/>
          <a:p>
            <a:pPr indent="0" marL="0">
              <a:buNone/>
            </a:pPr>
            <a:r>
              <a:rPr lang="en-US" sz="1100" dirty="0">
                <a:solidFill>
                  <a:srgbClr val="1B1633"/>
                </a:solidFill>
                <a:latin typeface="Calibri" pitchFamily="34" charset="0"/>
                <a:ea typeface="Calibri" pitchFamily="34" charset="-122"/>
                <a:cs typeface="Calibri" pitchFamily="34" charset="-120"/>
              </a:rPr>
              <a:t>8-bit AdamW · gradient checkpointing · OOM retry · best checkpoint by val WER</a:t>
            </a:r>
            <a:endParaRPr lang="en-US" sz="1100" dirty="0"/>
          </a:p>
        </p:txBody>
      </p:sp>
      <p:sp>
        <p:nvSpPr>
          <p:cNvPr id="27" name="Shape 25"/>
          <p:cNvSpPr/>
          <p:nvPr/>
        </p:nvSpPr>
        <p:spPr>
          <a:xfrm>
            <a:off x="5760720" y="1143000"/>
            <a:ext cx="2926080" cy="3246120"/>
          </a:xfrm>
          <a:prstGeom prst="roundRect">
            <a:avLst>
              <a:gd name="adj" fmla="val 3125"/>
            </a:avLst>
          </a:prstGeom>
          <a:solidFill>
            <a:srgbClr val="15112B"/>
          </a:solidFill>
          <a:ln/>
        </p:spPr>
      </p:sp>
      <p:sp>
        <p:nvSpPr>
          <p:cNvPr id="28" name="Text 26"/>
          <p:cNvSpPr txBox="1"/>
          <p:nvPr/>
        </p:nvSpPr>
        <p:spPr>
          <a:xfrm>
            <a:off x="5943600" y="1234440"/>
            <a:ext cx="2560320" cy="365760"/>
          </a:xfrm>
          <a:prstGeom prst="rect">
            <a:avLst/>
          </a:prstGeom>
          <a:noFill/>
          <a:ln/>
        </p:spPr>
        <p:txBody>
          <a:bodyPr wrap="square" lIns="0" tIns="0" rIns="0" bIns="0" rtlCol="0" anchor="ctr"/>
          <a:lstStyle/>
          <a:p>
            <a:pPr indent="0" marL="0">
              <a:buNone/>
            </a:pPr>
            <a:r>
              <a:rPr lang="en-US" sz="2000" b="1" dirty="0">
                <a:solidFill>
                  <a:srgbClr val="F5A524"/>
                </a:solidFill>
                <a:latin typeface="Cambria" pitchFamily="34" charset="0"/>
                <a:ea typeface="Cambria" pitchFamily="34" charset="-122"/>
                <a:cs typeface="Cambria" pitchFamily="34" charset="-120"/>
              </a:rPr>
              <a:t>Auto-tune</a:t>
            </a:r>
            <a:endParaRPr lang="en-US" sz="2000" dirty="0"/>
          </a:p>
        </p:txBody>
      </p:sp>
      <p:sp>
        <p:nvSpPr>
          <p:cNvPr id="29" name="Text 27"/>
          <p:cNvSpPr txBox="1"/>
          <p:nvPr/>
        </p:nvSpPr>
        <p:spPr>
          <a:xfrm>
            <a:off x="5943600" y="1581912"/>
            <a:ext cx="2560320" cy="411480"/>
          </a:xfrm>
          <a:prstGeom prst="rect">
            <a:avLst/>
          </a:prstGeom>
          <a:noFill/>
          <a:ln/>
        </p:spPr>
        <p:txBody>
          <a:bodyPr wrap="square" lIns="0" tIns="0" rIns="0" bIns="0" rtlCol="0" anchor="t"/>
          <a:lstStyle/>
          <a:p>
            <a:pPr indent="0" marL="0">
              <a:buNone/>
            </a:pPr>
            <a:r>
              <a:rPr lang="en-US" sz="1150" dirty="0">
                <a:solidFill>
                  <a:srgbClr val="D5D2EA"/>
                </a:solidFill>
                <a:latin typeface="Calibri" pitchFamily="34" charset="0"/>
                <a:ea typeface="Calibri" pitchFamily="34" charset="-122"/>
                <a:cs typeface="Calibri" pitchFamily="34" charset="-120"/>
              </a:rPr>
              <a:t>Successive halving on your validation data</a:t>
            </a:r>
            <a:endParaRPr lang="en-US" sz="1150" dirty="0"/>
          </a:p>
        </p:txBody>
      </p:sp>
      <p:sp>
        <p:nvSpPr>
          <p:cNvPr id="30" name="Shape 28"/>
          <p:cNvSpPr/>
          <p:nvPr/>
        </p:nvSpPr>
        <p:spPr>
          <a:xfrm>
            <a:off x="5943600" y="1965960"/>
            <a:ext cx="2560320" cy="566928"/>
          </a:xfrm>
          <a:prstGeom prst="roundRect">
            <a:avLst>
              <a:gd name="adj" fmla="val 9677"/>
            </a:avLst>
          </a:prstGeom>
          <a:solidFill>
            <a:srgbClr val="2FD1B5"/>
          </a:solidFill>
          <a:ln/>
        </p:spPr>
      </p:sp>
      <p:sp>
        <p:nvSpPr>
          <p:cNvPr id="31" name="Text 29"/>
          <p:cNvSpPr txBox="1"/>
          <p:nvPr/>
        </p:nvSpPr>
        <p:spPr>
          <a:xfrm>
            <a:off x="5943600" y="1965960"/>
            <a:ext cx="2560320" cy="566928"/>
          </a:xfrm>
          <a:prstGeom prst="rect">
            <a:avLst/>
          </a:prstGeom>
          <a:noFill/>
          <a:ln/>
        </p:spPr>
        <p:txBody>
          <a:bodyPr wrap="square" lIns="0" tIns="0" rIns="0" bIns="0" rtlCol="0" anchor="ctr"/>
          <a:lstStyle/>
          <a:p>
            <a:pPr algn="ctr" indent="0" marL="0">
              <a:buNone/>
            </a:pPr>
            <a:r>
              <a:rPr lang="en-US" sz="1200" b="1" dirty="0">
                <a:solidFill>
                  <a:srgbClr val="15112B"/>
                </a:solidFill>
                <a:latin typeface="Calibri" pitchFamily="34" charset="0"/>
                <a:ea typeface="Calibri" pitchFamily="34" charset="-122"/>
                <a:cs typeface="Calibri" pitchFamily="34" charset="-120"/>
              </a:rPr>
              <a:t>8 candidates</a:t>
            </a:r>
            <a:endParaRPr lang="en-US" sz="1200" dirty="0"/>
          </a:p>
          <a:p>
            <a:pPr algn="ctr" indent="0" marL="0">
              <a:buNone/>
            </a:pPr>
            <a:r>
              <a:rPr lang="en-US" sz="1000" dirty="0">
                <a:solidFill>
                  <a:srgbClr val="15112B"/>
                </a:solidFill>
                <a:latin typeface="Calibri" pitchFamily="34" charset="0"/>
                <a:ea typeface="Calibri" pitchFamily="34" charset="-122"/>
                <a:cs typeface="Calibri" pitchFamily="34" charset="-120"/>
              </a:rPr>
              <a:t>baseline always included</a:t>
            </a:r>
            <a:endParaRPr lang="en-US" sz="1200" dirty="0"/>
          </a:p>
        </p:txBody>
      </p:sp>
      <p:sp>
        <p:nvSpPr>
          <p:cNvPr id="32" name="Shape 30"/>
          <p:cNvSpPr/>
          <p:nvPr/>
        </p:nvSpPr>
        <p:spPr>
          <a:xfrm>
            <a:off x="6309360" y="2624328"/>
            <a:ext cx="1828800" cy="566928"/>
          </a:xfrm>
          <a:prstGeom prst="roundRect">
            <a:avLst>
              <a:gd name="adj" fmla="val 9677"/>
            </a:avLst>
          </a:prstGeom>
          <a:solidFill>
            <a:srgbClr val="8B7CF6"/>
          </a:solidFill>
          <a:ln/>
        </p:spPr>
      </p:sp>
      <p:sp>
        <p:nvSpPr>
          <p:cNvPr id="33" name="Text 31"/>
          <p:cNvSpPr txBox="1"/>
          <p:nvPr/>
        </p:nvSpPr>
        <p:spPr>
          <a:xfrm>
            <a:off x="6309360" y="2624328"/>
            <a:ext cx="1828800" cy="566928"/>
          </a:xfrm>
          <a:prstGeom prst="rect">
            <a:avLst/>
          </a:prstGeom>
          <a:noFill/>
          <a:ln/>
        </p:spPr>
        <p:txBody>
          <a:bodyPr wrap="square" lIns="0" tIns="0" rIns="0" bIns="0" rtlCol="0" anchor="ctr"/>
          <a:lstStyle/>
          <a:p>
            <a:pPr algn="ctr" indent="0" marL="0">
              <a:buNone/>
            </a:pPr>
            <a:r>
              <a:rPr lang="en-US" sz="1200" b="1" dirty="0">
                <a:solidFill>
                  <a:srgbClr val="15112B"/>
                </a:solidFill>
                <a:latin typeface="Calibri" pitchFamily="34" charset="0"/>
                <a:ea typeface="Calibri" pitchFamily="34" charset="-122"/>
                <a:cs typeface="Calibri" pitchFamily="34" charset="-120"/>
              </a:rPr>
              <a:t>Best third</a:t>
            </a:r>
            <a:endParaRPr lang="en-US" sz="1200" dirty="0"/>
          </a:p>
          <a:p>
            <a:pPr algn="ctr" indent="0" marL="0">
              <a:buNone/>
            </a:pPr>
            <a:r>
              <a:rPr lang="en-US" sz="1000" dirty="0">
                <a:solidFill>
                  <a:srgbClr val="15112B"/>
                </a:solidFill>
                <a:latin typeface="Calibri" pitchFamily="34" charset="0"/>
                <a:ea typeface="Calibri" pitchFamily="34" charset="-122"/>
                <a:cs typeface="Calibri" pitchFamily="34" charset="-120"/>
              </a:rPr>
              <a:t>trained 3× longer</a:t>
            </a:r>
            <a:endParaRPr lang="en-US" sz="1200" dirty="0"/>
          </a:p>
        </p:txBody>
      </p:sp>
      <p:sp>
        <p:nvSpPr>
          <p:cNvPr id="34" name="Shape 32"/>
          <p:cNvSpPr/>
          <p:nvPr/>
        </p:nvSpPr>
        <p:spPr>
          <a:xfrm>
            <a:off x="6675120" y="3282696"/>
            <a:ext cx="1097280" cy="566928"/>
          </a:xfrm>
          <a:prstGeom prst="roundRect">
            <a:avLst>
              <a:gd name="adj" fmla="val 9677"/>
            </a:avLst>
          </a:prstGeom>
          <a:solidFill>
            <a:srgbClr val="F5A524"/>
          </a:solidFill>
          <a:ln/>
        </p:spPr>
      </p:sp>
      <p:sp>
        <p:nvSpPr>
          <p:cNvPr id="35" name="Text 33"/>
          <p:cNvSpPr txBox="1"/>
          <p:nvPr/>
        </p:nvSpPr>
        <p:spPr>
          <a:xfrm>
            <a:off x="6675120" y="3282696"/>
            <a:ext cx="1097280" cy="566928"/>
          </a:xfrm>
          <a:prstGeom prst="rect">
            <a:avLst/>
          </a:prstGeom>
          <a:noFill/>
          <a:ln/>
        </p:spPr>
        <p:txBody>
          <a:bodyPr wrap="square" lIns="0" tIns="0" rIns="0" bIns="0" rtlCol="0" anchor="ctr"/>
          <a:lstStyle/>
          <a:p>
            <a:pPr algn="ctr" indent="0" marL="0">
              <a:buNone/>
            </a:pPr>
            <a:r>
              <a:rPr lang="en-US" sz="1200" b="1" dirty="0">
                <a:solidFill>
                  <a:srgbClr val="15112B"/>
                </a:solidFill>
                <a:latin typeface="Calibri" pitchFamily="34" charset="0"/>
                <a:ea typeface="Calibri" pitchFamily="34" charset="-122"/>
                <a:cs typeface="Calibri" pitchFamily="34" charset="-120"/>
              </a:rPr>
              <a:t>Winner</a:t>
            </a:r>
            <a:endParaRPr lang="en-US" sz="1200" dirty="0"/>
          </a:p>
          <a:p>
            <a:pPr algn="ctr" indent="0" marL="0">
              <a:buNone/>
            </a:pPr>
            <a:r>
              <a:rPr lang="en-US" sz="1000" dirty="0">
                <a:solidFill>
                  <a:srgbClr val="15112B"/>
                </a:solidFill>
                <a:latin typeface="Calibri" pitchFamily="34" charset="0"/>
                <a:ea typeface="Calibri" pitchFamily="34" charset="-122"/>
                <a:cs typeface="Calibri" pitchFamily="34" charset="-120"/>
              </a:rPr>
              <a:t>full training run</a:t>
            </a:r>
            <a:endParaRPr lang="en-US" sz="1200" dirty="0"/>
          </a:p>
        </p:txBody>
      </p:sp>
      <p:sp>
        <p:nvSpPr>
          <p:cNvPr id="36" name="Text 34"/>
          <p:cNvSpPr txBox="1"/>
          <p:nvPr/>
        </p:nvSpPr>
        <p:spPr>
          <a:xfrm>
            <a:off x="5943600" y="4023360"/>
            <a:ext cx="2560320" cy="274320"/>
          </a:xfrm>
          <a:prstGeom prst="rect">
            <a:avLst/>
          </a:prstGeom>
          <a:noFill/>
          <a:ln/>
        </p:spPr>
        <p:txBody>
          <a:bodyPr wrap="square" lIns="0" tIns="0" rIns="0" bIns="0" rtlCol="0" anchor="t"/>
          <a:lstStyle/>
          <a:p>
            <a:pPr indent="0" marL="0">
              <a:buNone/>
            </a:pPr>
            <a:r>
              <a:rPr lang="en-US" sz="1050" i="1" dirty="0">
                <a:solidFill>
                  <a:srgbClr val="B9B5D6"/>
                </a:solidFill>
                <a:latin typeface="Calibri" pitchFamily="34" charset="0"/>
                <a:ea typeface="Calibri" pitchFamily="34" charset="-122"/>
                <a:cs typeface="Calibri" pitchFamily="34" charset="-120"/>
              </a:rPr>
              <a:t>Can only match or beat the defaults.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685800"/>
          </a:xfrm>
          <a:prstGeom prst="rect">
            <a:avLst/>
          </a:prstGeom>
          <a:noFill/>
          <a:ln/>
        </p:spPr>
        <p:txBody>
          <a:bodyPr wrap="square" lIns="0" tIns="0" rIns="0" bIns="0" rtlCol="0" anchor="ctr"/>
          <a:lstStyle/>
          <a:p>
            <a:pPr indent="0" marL="0">
              <a:buNone/>
            </a:pPr>
            <a:r>
              <a:rPr lang="en-US" sz="3000" b="1" dirty="0">
                <a:solidFill>
                  <a:srgbClr val="15112B"/>
                </a:solidFill>
                <a:latin typeface="Cambria" pitchFamily="34" charset="0"/>
                <a:ea typeface="Cambria" pitchFamily="34" charset="-122"/>
                <a:cs typeface="Cambria" pitchFamily="34" charset="-120"/>
              </a:rPr>
              <a:t>Models for English · தமிழ் · हिन्दी</a:t>
            </a:r>
            <a:endParaRPr lang="en-US" sz="3000" dirty="0"/>
          </a:p>
        </p:txBody>
      </p:sp>
      <p:sp>
        <p:nvSpPr>
          <p:cNvPr id="3" name="Shape 1"/>
          <p:cNvSpPr/>
          <p:nvPr/>
        </p:nvSpPr>
        <p:spPr>
          <a:xfrm>
            <a:off x="8001000" y="534924"/>
            <a:ext cx="64008" cy="164592"/>
          </a:xfrm>
          <a:prstGeom prst="roundRect">
            <a:avLst>
              <a:gd name="adj" fmla="val 50000"/>
            </a:avLst>
          </a:prstGeom>
          <a:solidFill>
            <a:srgbClr val="0E8A77"/>
          </a:solidFill>
          <a:ln/>
        </p:spPr>
      </p:sp>
      <p:sp>
        <p:nvSpPr>
          <p:cNvPr id="4" name="Shape 2"/>
          <p:cNvSpPr/>
          <p:nvPr/>
        </p:nvSpPr>
        <p:spPr>
          <a:xfrm>
            <a:off x="8110728" y="452628"/>
            <a:ext cx="64008" cy="329184"/>
          </a:xfrm>
          <a:prstGeom prst="roundRect">
            <a:avLst>
              <a:gd name="adj" fmla="val 50000"/>
            </a:avLst>
          </a:prstGeom>
          <a:solidFill>
            <a:srgbClr val="F5A524"/>
          </a:solidFill>
          <a:ln/>
        </p:spPr>
      </p:sp>
      <p:sp>
        <p:nvSpPr>
          <p:cNvPr id="5" name="Shape 3"/>
          <p:cNvSpPr/>
          <p:nvPr/>
        </p:nvSpPr>
        <p:spPr>
          <a:xfrm>
            <a:off x="8220456" y="411480"/>
            <a:ext cx="64008" cy="411480"/>
          </a:xfrm>
          <a:prstGeom prst="roundRect">
            <a:avLst>
              <a:gd name="adj" fmla="val 50000"/>
            </a:avLst>
          </a:prstGeom>
          <a:solidFill>
            <a:srgbClr val="0E8A77"/>
          </a:solidFill>
          <a:ln/>
        </p:spPr>
      </p:sp>
      <p:sp>
        <p:nvSpPr>
          <p:cNvPr id="6" name="Shape 4"/>
          <p:cNvSpPr/>
          <p:nvPr/>
        </p:nvSpPr>
        <p:spPr>
          <a:xfrm>
            <a:off x="8330184" y="493776"/>
            <a:ext cx="64008" cy="246888"/>
          </a:xfrm>
          <a:prstGeom prst="roundRect">
            <a:avLst>
              <a:gd name="adj" fmla="val 50000"/>
            </a:avLst>
          </a:prstGeom>
          <a:solidFill>
            <a:srgbClr val="F5A524"/>
          </a:solidFill>
          <a:ln/>
        </p:spPr>
      </p:sp>
      <p:sp>
        <p:nvSpPr>
          <p:cNvPr id="7" name="Shape 5"/>
          <p:cNvSpPr/>
          <p:nvPr/>
        </p:nvSpPr>
        <p:spPr>
          <a:xfrm>
            <a:off x="8439912" y="555498"/>
            <a:ext cx="64008" cy="123444"/>
          </a:xfrm>
          <a:prstGeom prst="roundRect">
            <a:avLst>
              <a:gd name="adj" fmla="val 50000"/>
            </a:avLst>
          </a:prstGeom>
          <a:solidFill>
            <a:srgbClr val="0E8A77"/>
          </a:solidFill>
          <a:ln/>
        </p:spPr>
      </p:sp>
      <p:sp>
        <p:nvSpPr>
          <p:cNvPr id="8" name="Text 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5F5B78"/>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48640"/>
                <a:gridCol w="2514600"/>
                <a:gridCol w="457200"/>
                <a:gridCol w="457200"/>
                <a:gridCol w="457200"/>
                <a:gridCol w="1325880"/>
                <a:gridCol w="2468880"/>
              </a:tblGrid>
              <a:tr h="32918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EN</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TA</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Licence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 VoxTune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15112B"/>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Whisper (tiny → large-v3)</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MIT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0B5E50"/>
                          </a:solidFill>
                          <a:latin typeface="Calibri" pitchFamily="34" charset="0"/>
                          <a:ea typeface="Calibri" pitchFamily="34" charset="-122"/>
                          <a:cs typeface="Calibri" pitchFamily="34" charset="-120"/>
                        </a:rPr>
                        <a:t>Trainable now</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DFF5EF"/>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IndicConformer (AI4Bharat)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A5A2B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MIT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4B3FB0"/>
                          </a:solidFill>
                          <a:latin typeface="Calibri" pitchFamily="34" charset="0"/>
                          <a:ea typeface="Calibri" pitchFamily="34" charset="-122"/>
                          <a:cs typeface="Calibri" pitchFamily="34" charset="-120"/>
                        </a:rPr>
                        <a:t>Candidate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EEAFB"/>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Meta MMS (1,100+ languages)</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CC-BY-NC</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4B3FB0"/>
                          </a:solidFill>
                          <a:latin typeface="Calibri" pitchFamily="34" charset="0"/>
                          <a:ea typeface="Calibri" pitchFamily="34" charset="-122"/>
                          <a:cs typeface="Calibri" pitchFamily="34" charset="-120"/>
                        </a:rPr>
                        <a:t>Candidate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EEAFB"/>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STT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SeamlessM4T v2</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CC-BY-NC</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FFFFF"/>
                    </a:solidFill>
                  </a:tcPr>
                </a:tc>
                <a:tc>
                  <a:txBody>
                    <a:bodyPr/>
                    <a:lstStyle/>
                    <a:p>
                      <a:pPr indent="0" marL="0">
                        <a:buNone/>
                      </a:pPr>
                      <a:r>
                        <a:rPr lang="en-US" sz="1150" b="1" dirty="0">
                          <a:solidFill>
                            <a:srgbClr val="4B3FB0"/>
                          </a:solidFill>
                          <a:latin typeface="Calibri" pitchFamily="34" charset="0"/>
                          <a:ea typeface="Calibri" pitchFamily="34" charset="-122"/>
                          <a:cs typeface="Calibri" pitchFamily="34" charset="-120"/>
                        </a:rPr>
                        <a:t>Candidate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EEAFB"/>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TTS</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SpeechT5</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A5A2B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A5A2B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MIT</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0B5E50"/>
                          </a:solidFill>
                          <a:latin typeface="Calibri" pitchFamily="34" charset="0"/>
                          <a:ea typeface="Calibri" pitchFamily="34" charset="-122"/>
                          <a:cs typeface="Calibri" pitchFamily="34" charset="-120"/>
                        </a:rPr>
                        <a:t>Trainable now</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DFF5EF"/>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TTS</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XTTS v2</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A5A2B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Non-commercial</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9A3412"/>
                          </a:solidFill>
                          <a:latin typeface="Calibri" pitchFamily="34" charset="0"/>
                          <a:ea typeface="Calibri" pitchFamily="34" charset="-122"/>
                          <a:cs typeface="Calibri" pitchFamily="34" charset="-120"/>
                        </a:rPr>
                        <a:t>Registered, no trainer</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FDEBD9"/>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TTS</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Indic Parler-TTS (21 langs)</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Apache-2.0</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4B3FB0"/>
                          </a:solidFill>
                          <a:latin typeface="Calibri" pitchFamily="34" charset="0"/>
                          <a:ea typeface="Calibri" pitchFamily="34" charset="-122"/>
                          <a:cs typeface="Calibri" pitchFamily="34" charset="-120"/>
                        </a:rPr>
                        <a:t>Candidate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EEAFB"/>
                    </a:solidFill>
                  </a:tcPr>
                </a:tc>
              </a:tr>
              <a:tr h="329184">
                <a:tc>
                  <a:txBody>
                    <a:bodyPr/>
                    <a:lstStyle/>
                    <a:p>
                      <a:pPr indent="0" marL="0">
                        <a:buNone/>
                      </a:pPr>
                      <a:r>
                        <a:rPr lang="en-US" sz="1150" b="1" dirty="0">
                          <a:solidFill>
                            <a:srgbClr val="5F5B78"/>
                          </a:solidFill>
                          <a:latin typeface="Calibri" pitchFamily="34" charset="0"/>
                          <a:ea typeface="Calibri" pitchFamily="34" charset="-122"/>
                          <a:cs typeface="Calibri" pitchFamily="34" charset="-120"/>
                        </a:rPr>
                        <a:t>TTS</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15112B"/>
                          </a:solidFill>
                          <a:latin typeface="Calibri" pitchFamily="34" charset="0"/>
                          <a:ea typeface="Calibri" pitchFamily="34" charset="-122"/>
                          <a:cs typeface="Calibri" pitchFamily="34" charset="-120"/>
                        </a:rPr>
                        <a:t>MMS-TTS (VITS, per-language)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algn="ctr" indent="0" marL="0">
                        <a:buNone/>
                      </a:pPr>
                      <a:r>
                        <a:rPr lang="en-US" sz="1400" b="1" dirty="0">
                          <a:solidFill>
                            <a:srgbClr val="0E8A7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dirty="0">
                          <a:solidFill>
                            <a:srgbClr val="1B1633"/>
                          </a:solidFill>
                          <a:latin typeface="Calibri" pitchFamily="34" charset="0"/>
                          <a:ea typeface="Calibri" pitchFamily="34" charset="-122"/>
                          <a:cs typeface="Calibri" pitchFamily="34" charset="-120"/>
                        </a:rPr>
                        <a:t>CC-BY-NC</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FEDF8"/>
                    </a:solidFill>
                  </a:tcPr>
                </a:tc>
                <a:tc>
                  <a:txBody>
                    <a:bodyPr/>
                    <a:lstStyle/>
                    <a:p>
                      <a:pPr indent="0" marL="0">
                        <a:buNone/>
                      </a:pPr>
                      <a:r>
                        <a:rPr lang="en-US" sz="1150" b="1" dirty="0">
                          <a:solidFill>
                            <a:srgbClr val="4B3FB0"/>
                          </a:solidFill>
                          <a:latin typeface="Calibri" pitchFamily="34" charset="0"/>
                          <a:ea typeface="Calibri" pitchFamily="34" charset="-122"/>
                          <a:cs typeface="Calibri" pitchFamily="34" charset="-120"/>
                        </a:rPr>
                        <a:t>Candidate</a:t>
                      </a:r>
                      <a:endParaRPr lang="en-US" sz="1150" dirty="0">
                        <a:latin typeface="Calibri" charset="0"/>
                        <a:ea typeface="Calibri" charset="0"/>
                        <a:cs typeface="Calibri" charset="0"/>
                      </a:endParaRPr>
                    </a:p>
                  </a:txBody>
                  <a:tcPr marL="76200" marR="76200" marT="25400" marB="25400" anchor="ctr">
                    <a:lnL w="6350" cap="flat" cmpd="sng" algn="ctr">
                      <a:solidFill>
                        <a:srgbClr val="DAD7EA"/>
                      </a:solidFill>
                      <a:prstDash val="solid"/>
                      <a:round/>
                      <a:headEnd type="none" w="med" len="med"/>
                      <a:tailEnd type="none" w="med" len="med"/>
                    </a:lnL>
                    <a:lnR w="6350" cap="flat" cmpd="sng" algn="ctr">
                      <a:solidFill>
                        <a:srgbClr val="DAD7EA"/>
                      </a:solidFill>
                      <a:prstDash val="solid"/>
                      <a:round/>
                      <a:headEnd type="none" w="med" len="med"/>
                      <a:tailEnd type="none" w="med" len="med"/>
                    </a:lnR>
                    <a:lnT w="6350" cap="flat" cmpd="sng" algn="ctr">
                      <a:solidFill>
                        <a:srgbClr val="DAD7EA"/>
                      </a:solidFill>
                      <a:prstDash val="solid"/>
                      <a:round/>
                      <a:headEnd type="none" w="med" len="med"/>
                      <a:tailEnd type="none" w="med" len="med"/>
                    </a:lnT>
                    <a:lnB w="6350" cap="flat" cmpd="sng" algn="ctr">
                      <a:solidFill>
                        <a:srgbClr val="DAD7EA"/>
                      </a:solidFill>
                      <a:prstDash val="solid"/>
                      <a:round/>
                      <a:headEnd type="none" w="med" len="med"/>
                      <a:tailEnd type="none" w="med" len="med"/>
                    </a:lnB>
                    <a:solidFill>
                      <a:srgbClr val="EEEAFB"/>
                    </a:solidFill>
                  </a:tcPr>
                </a:tc>
              </a:tr>
            </a:tbl>
          </a:graphicData>
        </a:graphic>
      </p:graphicFrame>
      <p:sp>
        <p:nvSpPr>
          <p:cNvPr id="10" name="Shape 7"/>
          <p:cNvSpPr/>
          <p:nvPr/>
        </p:nvSpPr>
        <p:spPr>
          <a:xfrm>
            <a:off x="457200" y="4160520"/>
            <a:ext cx="8229600" cy="502920"/>
          </a:xfrm>
          <a:prstGeom prst="roundRect">
            <a:avLst>
              <a:gd name="adj" fmla="val 14545"/>
            </a:avLst>
          </a:prstGeom>
          <a:solidFill>
            <a:srgbClr val="15112B"/>
          </a:solidFill>
          <a:ln/>
        </p:spPr>
      </p:sp>
      <p:sp>
        <p:nvSpPr>
          <p:cNvPr id="11" name="Text 8"/>
          <p:cNvSpPr txBox="1"/>
          <p:nvPr/>
        </p:nvSpPr>
        <p:spPr>
          <a:xfrm>
            <a:off x="640080" y="4160520"/>
            <a:ext cx="7863840" cy="502920"/>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Takeaway  </a:t>
            </a:r>
            <a:pPr indent="0" marL="0">
              <a:buNone/>
            </a:pPr>
            <a:r>
              <a:rPr lang="en-US" sz="1200" dirty="0">
                <a:solidFill>
                  <a:srgbClr val="FFFFFF"/>
                </a:solidFill>
                <a:latin typeface="Calibri" pitchFamily="34" charset="0"/>
                <a:ea typeface="Calibri" pitchFamily="34" charset="-122"/>
                <a:cs typeface="Calibri" pitchFamily="34" charset="-120"/>
              </a:rPr>
              <a:t>Whisper covers all three languages for STT today. For Tamil and Hindi TTS, the next base model is Indic Parler-TTS (Apache-2.0); SpeechT5 is English-only.</a:t>
            </a:r>
            <a:endParaRPr lang="en-US" sz="1200" dirty="0"/>
          </a:p>
        </p:txBody>
      </p:sp>
      <p:sp>
        <p:nvSpPr>
          <p:cNvPr id="12" name="Text 9"/>
          <p:cNvSpPr txBox="1"/>
          <p:nvPr/>
        </p:nvSpPr>
        <p:spPr>
          <a:xfrm>
            <a:off x="457200" y="4709160"/>
            <a:ext cx="7680960" cy="228600"/>
          </a:xfrm>
          <a:prstGeom prst="rect">
            <a:avLst/>
          </a:prstGeom>
          <a:noFill/>
          <a:ln/>
        </p:spPr>
        <p:txBody>
          <a:bodyPr wrap="square" lIns="0" tIns="0" rIns="0" bIns="0" rtlCol="0" anchor="ctr"/>
          <a:lstStyle/>
          <a:p>
            <a:pPr indent="0" marL="0">
              <a:buNone/>
            </a:pPr>
            <a:r>
              <a:rPr lang="en-US" sz="1000" dirty="0">
                <a:solidFill>
                  <a:srgbClr val="5F5B78"/>
                </a:solidFill>
                <a:latin typeface="Calibri" pitchFamily="34" charset="0"/>
                <a:ea typeface="Calibri" pitchFamily="34" charset="-122"/>
                <a:cs typeface="Calibri" pitchFamily="34" charset="-120"/>
              </a:rPr>
              <a:t>Language support per each model's upstream card. Candidate = fits the registry design, no trainer yet.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12B"/>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Measured honestly, proven on 4 GB</a:t>
            </a:r>
            <a:endParaRPr lang="en-US" sz="3000" dirty="0"/>
          </a:p>
        </p:txBody>
      </p:sp>
      <p:sp>
        <p:nvSpPr>
          <p:cNvPr id="3" name="Shape 1"/>
          <p:cNvSpPr/>
          <p:nvPr/>
        </p:nvSpPr>
        <p:spPr>
          <a:xfrm>
            <a:off x="8001000" y="534924"/>
            <a:ext cx="64008" cy="164592"/>
          </a:xfrm>
          <a:prstGeom prst="roundRect">
            <a:avLst>
              <a:gd name="adj" fmla="val 50000"/>
            </a:avLst>
          </a:prstGeom>
          <a:solidFill>
            <a:srgbClr val="2FD1B5"/>
          </a:solidFill>
          <a:ln/>
        </p:spPr>
      </p:sp>
      <p:sp>
        <p:nvSpPr>
          <p:cNvPr id="4" name="Shape 2"/>
          <p:cNvSpPr/>
          <p:nvPr/>
        </p:nvSpPr>
        <p:spPr>
          <a:xfrm>
            <a:off x="8110728" y="452628"/>
            <a:ext cx="64008" cy="329184"/>
          </a:xfrm>
          <a:prstGeom prst="roundRect">
            <a:avLst>
              <a:gd name="adj" fmla="val 50000"/>
            </a:avLst>
          </a:prstGeom>
          <a:solidFill>
            <a:srgbClr val="F5A524"/>
          </a:solidFill>
          <a:ln/>
        </p:spPr>
      </p:sp>
      <p:sp>
        <p:nvSpPr>
          <p:cNvPr id="5" name="Shape 3"/>
          <p:cNvSpPr/>
          <p:nvPr/>
        </p:nvSpPr>
        <p:spPr>
          <a:xfrm>
            <a:off x="8220456" y="411480"/>
            <a:ext cx="64008" cy="411480"/>
          </a:xfrm>
          <a:prstGeom prst="roundRect">
            <a:avLst>
              <a:gd name="adj" fmla="val 50000"/>
            </a:avLst>
          </a:prstGeom>
          <a:solidFill>
            <a:srgbClr val="2FD1B5"/>
          </a:solidFill>
          <a:ln/>
        </p:spPr>
      </p:sp>
      <p:sp>
        <p:nvSpPr>
          <p:cNvPr id="6" name="Shape 4"/>
          <p:cNvSpPr/>
          <p:nvPr/>
        </p:nvSpPr>
        <p:spPr>
          <a:xfrm>
            <a:off x="8330184" y="493776"/>
            <a:ext cx="64008" cy="246888"/>
          </a:xfrm>
          <a:prstGeom prst="roundRect">
            <a:avLst>
              <a:gd name="adj" fmla="val 50000"/>
            </a:avLst>
          </a:prstGeom>
          <a:solidFill>
            <a:srgbClr val="F5A524"/>
          </a:solidFill>
          <a:ln/>
        </p:spPr>
      </p:sp>
      <p:sp>
        <p:nvSpPr>
          <p:cNvPr id="7" name="Shape 5"/>
          <p:cNvSpPr/>
          <p:nvPr/>
        </p:nvSpPr>
        <p:spPr>
          <a:xfrm>
            <a:off x="8439912" y="555498"/>
            <a:ext cx="64008" cy="123444"/>
          </a:xfrm>
          <a:prstGeom prst="roundRect">
            <a:avLst>
              <a:gd name="adj" fmla="val 50000"/>
            </a:avLst>
          </a:prstGeom>
          <a:solidFill>
            <a:srgbClr val="2FD1B5"/>
          </a:solidFill>
          <a:ln/>
        </p:spPr>
      </p:sp>
      <p:sp>
        <p:nvSpPr>
          <p:cNvPr id="8" name="Text 6"/>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9A96B8"/>
                </a:solidFill>
                <a:latin typeface="Calibri" pitchFamily="34" charset="0"/>
                <a:ea typeface="Calibri" pitchFamily="34" charset="-122"/>
                <a:cs typeface="Calibri" pitchFamily="34" charset="-120"/>
              </a:rPr>
              <a:t>7</a:t>
            </a:r>
            <a:endParaRPr lang="en-US" sz="1000" dirty="0"/>
          </a:p>
        </p:txBody>
      </p:sp>
      <p:sp>
        <p:nvSpPr>
          <p:cNvPr id="9" name="Shape 7"/>
          <p:cNvSpPr/>
          <p:nvPr/>
        </p:nvSpPr>
        <p:spPr>
          <a:xfrm>
            <a:off x="457200" y="1143000"/>
            <a:ext cx="3566160" cy="1051560"/>
          </a:xfrm>
          <a:prstGeom prst="roundRect">
            <a:avLst>
              <a:gd name="adj" fmla="val 6957"/>
            </a:avLst>
          </a:prstGeom>
          <a:solidFill>
            <a:srgbClr val="2A2150"/>
          </a:solidFill>
          <a:ln/>
        </p:spPr>
      </p:sp>
      <p:sp>
        <p:nvSpPr>
          <p:cNvPr id="10" name="Text 8"/>
          <p:cNvSpPr txBox="1"/>
          <p:nvPr/>
        </p:nvSpPr>
        <p:spPr>
          <a:xfrm>
            <a:off x="640080" y="1234440"/>
            <a:ext cx="3200400" cy="274320"/>
          </a:xfrm>
          <a:prstGeom prst="rect">
            <a:avLst/>
          </a:prstGeom>
          <a:noFill/>
          <a:ln/>
        </p:spPr>
        <p:txBody>
          <a:bodyPr wrap="square" lIns="0" tIns="0" rIns="0" bIns="0" rtlCol="0" anchor="ctr"/>
          <a:lstStyle/>
          <a:p>
            <a:pPr indent="0" marL="0">
              <a:buNone/>
            </a:pPr>
            <a:r>
              <a:rPr lang="en-US" sz="1400" b="1" dirty="0">
                <a:solidFill>
                  <a:srgbClr val="2FD1B5"/>
                </a:solidFill>
                <a:latin typeface="Calibri" pitchFamily="34" charset="0"/>
                <a:ea typeface="Calibri" pitchFamily="34" charset="-122"/>
                <a:cs typeface="Calibri" pitchFamily="34" charset="-120"/>
              </a:rPr>
              <a:t>STT metrics</a:t>
            </a:r>
            <a:endParaRPr lang="en-US" sz="1400" dirty="0"/>
          </a:p>
        </p:txBody>
      </p:sp>
      <p:sp>
        <p:nvSpPr>
          <p:cNvPr id="11" name="Text 9"/>
          <p:cNvSpPr txBox="1"/>
          <p:nvPr/>
        </p:nvSpPr>
        <p:spPr>
          <a:xfrm>
            <a:off x="640080" y="1527048"/>
            <a:ext cx="3200400" cy="5943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WER · CER · word / char accuracy · domain-term accuracy</a:t>
            </a:r>
            <a:endParaRPr lang="en-US" sz="1200" dirty="0"/>
          </a:p>
        </p:txBody>
      </p:sp>
      <p:sp>
        <p:nvSpPr>
          <p:cNvPr id="12" name="Shape 10"/>
          <p:cNvSpPr/>
          <p:nvPr/>
        </p:nvSpPr>
        <p:spPr>
          <a:xfrm>
            <a:off x="457200" y="2331720"/>
            <a:ext cx="3566160" cy="1051560"/>
          </a:xfrm>
          <a:prstGeom prst="roundRect">
            <a:avLst>
              <a:gd name="adj" fmla="val 6957"/>
            </a:avLst>
          </a:prstGeom>
          <a:solidFill>
            <a:srgbClr val="2A2150"/>
          </a:solidFill>
          <a:ln/>
        </p:spPr>
      </p:sp>
      <p:sp>
        <p:nvSpPr>
          <p:cNvPr id="13" name="Text 11"/>
          <p:cNvSpPr txBox="1"/>
          <p:nvPr/>
        </p:nvSpPr>
        <p:spPr>
          <a:xfrm>
            <a:off x="640080" y="2423160"/>
            <a:ext cx="3200400" cy="274320"/>
          </a:xfrm>
          <a:prstGeom prst="rect">
            <a:avLst/>
          </a:prstGeom>
          <a:noFill/>
          <a:ln/>
        </p:spPr>
        <p:txBody>
          <a:bodyPr wrap="square" lIns="0" tIns="0" rIns="0" bIns="0" rtlCol="0" anchor="ctr"/>
          <a:lstStyle/>
          <a:p>
            <a:pPr indent="0" marL="0">
              <a:buNone/>
            </a:pPr>
            <a:r>
              <a:rPr lang="en-US" sz="1400" b="1" dirty="0">
                <a:solidFill>
                  <a:srgbClr val="F5A524"/>
                </a:solidFill>
                <a:latin typeface="Calibri" pitchFamily="34" charset="0"/>
                <a:ea typeface="Calibri" pitchFamily="34" charset="-122"/>
                <a:cs typeface="Calibri" pitchFamily="34" charset="-120"/>
              </a:rPr>
              <a:t>TTS metrics</a:t>
            </a:r>
            <a:endParaRPr lang="en-US" sz="1400" dirty="0"/>
          </a:p>
        </p:txBody>
      </p:sp>
      <p:sp>
        <p:nvSpPr>
          <p:cNvPr id="14" name="Text 12"/>
          <p:cNvSpPr txBox="1"/>
          <p:nvPr/>
        </p:nvSpPr>
        <p:spPr>
          <a:xfrm>
            <a:off x="640080" y="2715768"/>
            <a:ext cx="3200400" cy="5943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MFCC-DTW distance (relative) · x-vector speaker similarity · ASR round-trip WER</a:t>
            </a:r>
            <a:endParaRPr lang="en-US" sz="1200" dirty="0"/>
          </a:p>
        </p:txBody>
      </p:sp>
      <p:sp>
        <p:nvSpPr>
          <p:cNvPr id="15" name="Text 13"/>
          <p:cNvSpPr txBox="1"/>
          <p:nvPr/>
        </p:nvSpPr>
        <p:spPr>
          <a:xfrm>
            <a:off x="457200" y="3520440"/>
            <a:ext cx="3566160" cy="457200"/>
          </a:xfrm>
          <a:prstGeom prst="rect">
            <a:avLst/>
          </a:prstGeom>
          <a:noFill/>
          <a:ln/>
        </p:spPr>
        <p:txBody>
          <a:bodyPr wrap="square" lIns="0" tIns="0" rIns="0" bIns="0" rtlCol="0" anchor="t"/>
          <a:lstStyle/>
          <a:p>
            <a:pPr indent="0" marL="0">
              <a:buNone/>
            </a:pPr>
            <a:r>
              <a:rPr lang="en-US" sz="1100" i="1" dirty="0">
                <a:solidFill>
                  <a:srgbClr val="B9B5D6"/>
                </a:solidFill>
                <a:latin typeface="Calibri" pitchFamily="34" charset="0"/>
                <a:ea typeface="Calibri" pitchFamily="34" charset="-122"/>
                <a:cs typeface="Calibri" pitchFamily="34" charset="-120"/>
              </a:rPr>
              <a:t>Every run is compared to the base model on held-out data. MOS is not computed (needs raters).</a:t>
            </a:r>
            <a:endParaRPr lang="en-US" sz="1100" dirty="0"/>
          </a:p>
        </p:txBody>
      </p:sp>
      <p:sp>
        <p:nvSpPr>
          <p:cNvPr id="16" name="Text 14"/>
          <p:cNvSpPr txBox="1"/>
          <p:nvPr/>
        </p:nvSpPr>
        <p:spPr>
          <a:xfrm>
            <a:off x="4343400" y="1097280"/>
            <a:ext cx="43434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Peak GPU memory used in real runs (GB), RTX 3050 Laptop, 4 GB</a:t>
            </a:r>
            <a:endParaRPr lang="en-US" sz="1200" dirty="0"/>
          </a:p>
        </p:txBody>
      </p:sp>
      <p:graphicFrame>
        <p:nvGraphicFramePr>
          <p:cNvPr id="17" name="Chart 0" descr=""/>
          <p:cNvGraphicFramePr/>
          <p:nvPr/>
        </p:nvGraphicFramePr>
        <p:xfrm>
          <a:off x="4343400" y="1371600"/>
          <a:ext cx="4343400" cy="26060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457200" y="4114800"/>
            <a:ext cx="640080" cy="365760"/>
          </a:xfrm>
          <a:prstGeom prst="rect">
            <a:avLst/>
          </a:prstGeom>
          <a:noFill/>
          <a:ln/>
        </p:spPr>
        <p:txBody>
          <a:bodyPr wrap="square" lIns="0" tIns="0" rIns="0" bIns="0" rtlCol="0" anchor="ctr"/>
          <a:lstStyle/>
          <a:p>
            <a:pPr indent="0" marL="0">
              <a:buNone/>
            </a:pPr>
            <a:r>
              <a:rPr lang="en-US" sz="1600" b="1" dirty="0">
                <a:solidFill>
                  <a:srgbClr val="F5A524"/>
                </a:solidFill>
                <a:latin typeface="Cambria" pitchFamily="34" charset="0"/>
                <a:ea typeface="Cambria" pitchFamily="34" charset="-122"/>
                <a:cs typeface="Cambria" pitchFamily="34" charset="-120"/>
              </a:rPr>
              <a:t>Next</a:t>
            </a:r>
            <a:endParaRPr lang="en-US" sz="1600" dirty="0"/>
          </a:p>
        </p:txBody>
      </p:sp>
      <p:sp>
        <p:nvSpPr>
          <p:cNvPr id="19" name="Shape 16"/>
          <p:cNvSpPr/>
          <p:nvPr/>
        </p:nvSpPr>
        <p:spPr>
          <a:xfrm>
            <a:off x="1097280" y="4114800"/>
            <a:ext cx="1828800" cy="365760"/>
          </a:xfrm>
          <a:prstGeom prst="roundRect">
            <a:avLst>
              <a:gd name="adj" fmla="val 50000"/>
            </a:avLst>
          </a:prstGeom>
          <a:solidFill>
            <a:srgbClr val="2A2150"/>
          </a:solidFill>
          <a:ln/>
        </p:spPr>
      </p:sp>
      <p:sp>
        <p:nvSpPr>
          <p:cNvPr id="20" name="Text 17"/>
          <p:cNvSpPr txBox="1"/>
          <p:nvPr/>
        </p:nvSpPr>
        <p:spPr>
          <a:xfrm>
            <a:off x="1097280" y="4114800"/>
            <a:ext cx="18288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Tamil + Hindi datasets</a:t>
            </a:r>
            <a:endParaRPr lang="en-US" sz="1100" dirty="0"/>
          </a:p>
        </p:txBody>
      </p:sp>
      <p:sp>
        <p:nvSpPr>
          <p:cNvPr id="21" name="Shape 18"/>
          <p:cNvSpPr/>
          <p:nvPr/>
        </p:nvSpPr>
        <p:spPr>
          <a:xfrm>
            <a:off x="3017520" y="4114800"/>
            <a:ext cx="1828800" cy="365760"/>
          </a:xfrm>
          <a:prstGeom prst="roundRect">
            <a:avLst>
              <a:gd name="adj" fmla="val 50000"/>
            </a:avLst>
          </a:prstGeom>
          <a:solidFill>
            <a:srgbClr val="2A2150"/>
          </a:solidFill>
          <a:ln/>
        </p:spPr>
      </p:sp>
      <p:sp>
        <p:nvSpPr>
          <p:cNvPr id="22" name="Text 19"/>
          <p:cNvSpPr txBox="1"/>
          <p:nvPr/>
        </p:nvSpPr>
        <p:spPr>
          <a:xfrm>
            <a:off x="3017520" y="4114800"/>
            <a:ext cx="18288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Indic Parler-TTS trainer</a:t>
            </a:r>
            <a:endParaRPr lang="en-US" sz="1100" dirty="0"/>
          </a:p>
        </p:txBody>
      </p:sp>
      <p:sp>
        <p:nvSpPr>
          <p:cNvPr id="23" name="Shape 20"/>
          <p:cNvSpPr/>
          <p:nvPr/>
        </p:nvSpPr>
        <p:spPr>
          <a:xfrm>
            <a:off x="4937760" y="4114800"/>
            <a:ext cx="1828800" cy="365760"/>
          </a:xfrm>
          <a:prstGeom prst="roundRect">
            <a:avLst>
              <a:gd name="adj" fmla="val 50000"/>
            </a:avLst>
          </a:prstGeom>
          <a:solidFill>
            <a:srgbClr val="2A2150"/>
          </a:solidFill>
          <a:ln/>
        </p:spPr>
      </p:sp>
      <p:sp>
        <p:nvSpPr>
          <p:cNvPr id="24" name="Text 21"/>
          <p:cNvSpPr txBox="1"/>
          <p:nvPr/>
        </p:nvSpPr>
        <p:spPr>
          <a:xfrm>
            <a:off x="4937760" y="4114800"/>
            <a:ext cx="18288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XTTS v2 trainer (≥12 GB)</a:t>
            </a:r>
            <a:endParaRPr lang="en-US" sz="1100" dirty="0"/>
          </a:p>
        </p:txBody>
      </p:sp>
      <p:sp>
        <p:nvSpPr>
          <p:cNvPr id="25" name="Shape 22"/>
          <p:cNvSpPr/>
          <p:nvPr/>
        </p:nvSpPr>
        <p:spPr>
          <a:xfrm>
            <a:off x="6858000" y="4114800"/>
            <a:ext cx="1828800" cy="365760"/>
          </a:xfrm>
          <a:prstGeom prst="roundRect">
            <a:avLst>
              <a:gd name="adj" fmla="val 50000"/>
            </a:avLst>
          </a:prstGeom>
          <a:solidFill>
            <a:srgbClr val="2A2150"/>
          </a:solidFill>
          <a:ln/>
        </p:spPr>
      </p:sp>
      <p:sp>
        <p:nvSpPr>
          <p:cNvPr id="26" name="Text 23"/>
          <p:cNvSpPr txBox="1"/>
          <p:nvPr/>
        </p:nvSpPr>
        <p:spPr>
          <a:xfrm>
            <a:off x="6858000" y="4114800"/>
            <a:ext cx="18288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Whisper medium / large runs</a:t>
            </a:r>
            <a:endParaRPr lang="en-US" sz="1100" dirty="0"/>
          </a:p>
        </p:txBody>
      </p:sp>
      <p:sp>
        <p:nvSpPr>
          <p:cNvPr id="27" name="Text 24"/>
          <p:cNvSpPr txBox="1"/>
          <p:nvPr/>
        </p:nvSpPr>
        <p:spPr>
          <a:xfrm>
            <a:off x="457200" y="4617720"/>
            <a:ext cx="7680960" cy="274320"/>
          </a:xfrm>
          <a:prstGeom prst="rect">
            <a:avLst/>
          </a:prstGeom>
          <a:noFill/>
          <a:ln/>
        </p:spPr>
        <p:txBody>
          <a:bodyPr wrap="square" lIns="0" tIns="0" rIns="0" bIns="0" rtlCol="0" anchor="ctr"/>
          <a:lstStyle/>
          <a:p>
            <a:pPr indent="0" marL="0">
              <a:buNone/>
            </a:pPr>
            <a:r>
              <a:rPr lang="en-US" sz="1050" i="1" dirty="0">
                <a:solidFill>
                  <a:srgbClr val="9A96B8"/>
                </a:solidFill>
                <a:latin typeface="Calibri" pitchFamily="34" charset="0"/>
                <a:ea typeface="Calibri" pitchFamily="34" charset="-122"/>
                <a:cs typeface="Calibri" pitchFamily="34" charset="-120"/>
              </a:rPr>
              <a:t>Verified on small synthetic-speech sets: proves the pipeline works end to end, not real-world accuracy.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VoxTune - Fine-tuning Studio for Speech Models</dc:title>
  <dc:subject>PptxGenJS Presentation</dc:subject>
  <dc:creator>VoxTune</dc:creator>
  <cp:lastModifiedBy>VoxTune</cp:lastModifiedBy>
  <cp:revision>1</cp:revision>
  <dcterms:created xsi:type="dcterms:W3CDTF">2026-09-19T10:23:33Z</dcterms:created>
  <dcterms:modified xsi:type="dcterms:W3CDTF">2026-09-19T10:23:33Z</dcterms:modified>
</cp:coreProperties>
</file>